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Трафик, % от пикового месяца</c:v>
                </c:pt>
              </c:strCache>
            </c:strRef>
          </c:tx>
          <c:spPr>
            <a:solidFill>
              <a:srgbClr val="009FE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8A93A6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Янв</c:v>
                  </c:pt>
                  <c:pt idx="1">
                    <c:v>Фев</c:v>
                  </c:pt>
                  <c:pt idx="2">
                    <c:v>Мар</c:v>
                  </c:pt>
                  <c:pt idx="3">
                    <c:v>Апр</c:v>
                  </c:pt>
                  <c:pt idx="4">
                    <c:v>Май</c:v>
                  </c:pt>
                  <c:pt idx="5">
                    <c:v>Июн</c:v>
                  </c:pt>
                  <c:pt idx="6">
                    <c:v>Июл</c:v>
                  </c:pt>
                  <c:pt idx="7">
                    <c:v>Авг</c:v>
                  </c:pt>
                  <c:pt idx="8">
                    <c:v>Сен</c:v>
                  </c:pt>
                  <c:pt idx="9">
                    <c:v>Окт</c:v>
                  </c:pt>
                  <c:pt idx="10">
                    <c:v>Ноя</c:v>
                  </c:pt>
                  <c:pt idx="11">
                    <c:v>Дек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12</c:v>
                </c:pt>
                <c:pt idx="2">
                  <c:v>18</c:v>
                </c:pt>
                <c:pt idx="3">
                  <c:v>45</c:v>
                </c:pt>
                <c:pt idx="4">
                  <c:v>85</c:v>
                </c:pt>
                <c:pt idx="5">
                  <c:v>100</c:v>
                </c:pt>
                <c:pt idx="6">
                  <c:v>100</c:v>
                </c:pt>
                <c:pt idx="7">
                  <c:v>95</c:v>
                </c:pt>
                <c:pt idx="8">
                  <c:v>75</c:v>
                </c:pt>
                <c:pt idx="9">
                  <c:v>45</c:v>
                </c:pt>
                <c:pt idx="10">
                  <c:v>15</c:v>
                </c:pt>
                <c:pt idx="11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8A93A6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468"/>
                </a:solidFill>
                <a:latin typeface="Gotha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9525" cap="flat">
              <a:solidFill>
                <a:srgbClr val="E2E8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468"/>
                </a:solidFill>
                <a:latin typeface="Gotham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Открытие: у нас 9,4 га общественных пространств, которые сегодня — чистый расход. Предлагаем за 12 месяцев проверить три модели, которые делают их управляемым активом.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месседж: это не «зелень», это 9,4 га витрины наших ЖК в четырёх разных управленческих режимах.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Трафик — общая валюта обеих целей: он же двигает выручку операторов, он же двигает NPS.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Профиль кривой иллюстративный — калибруем счётчиками нулевого спринта. Форма не изменится: 5 тёплых месяцев дают почти весь трафик.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Проценты — целевые коридоры-гипотезы пилота, а не обещание. Пилот и существует, чтобы заменить их фактом.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Точка — основной инструмент, «опц.» — опционально. Меню деградирует изящно: спонсорство и события работают почти при любом юрстатусе земли.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группа D — 34 620 м². Механизм не требует владения землёй: город платит за качество содержания и инфраструктуру в рассрочку.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Ключевая строка — коммерческая инфраструктура: мы готовим место и сети, павильон строит арендатор. Это снижает наш CAPEX и повышает его вовлечённость.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Нулевой спринт — способ начать в этом сезоне, не дожидаясь CAPEX-решений: события в рамках текущих бюджетов, кофе-точка по краткосрочному договору.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Метрика «заявок больше, чем слотов» — состояние Брайант-парка: спрос на площадку превышает предложение. Это целевое состояние Т3.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Revenue-share с ОСИ — сильный ход: двор видит возврат денег от коммерции на своей территории, это прямой вклад в NPS-цель.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Критический путь: юраудит и факт OPEX в сентябре — без них финмодели в ноябре останутся на бенчмарках.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риск — из задокументированных провалов мировых программ (полный разбор в исследовании).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 одно из решений 1-4 не требует CAPEX. Деньги просим только в декабре — на основе фактических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66928"/>
            <a:ext cx="1554480" cy="5760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084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ПИЛОТНЫЙ ПРОЕКТ · К ЗАЩИТЕ · АВГУСТ 2026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640080" y="2487168"/>
            <a:ext cx="10424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3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Парки и аллеи BI:</a:t>
            </a:r>
            <a:endParaRPr lang="en-US" sz="35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из статьи расходов — в управляемый актив</a:t>
            </a:r>
            <a:endParaRPr lang="en-US" sz="3500" dirty="0"/>
          </a:p>
        </p:txBody>
      </p:sp>
      <p:sp>
        <p:nvSpPr>
          <p:cNvPr id="5" name="Text 2"/>
          <p:cNvSpPr/>
          <p:nvPr/>
        </p:nvSpPr>
        <p:spPr>
          <a:xfrm>
            <a:off x="640080" y="420624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 на 3 объектах: типовые модели территорий, монетизация, структура CAPEX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31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территория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портфеле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78892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94 120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278892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м² — 9,4 га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микрорайонах BI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93776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493776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типовые модели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+ механизм ГЧП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08660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12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08660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месяцев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горизонт пилота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ИСХОДНАЯ СИТУАЦИЯ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Портфель: 31 территория, четыре разные ситуации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48840"/>
            <a:ext cx="402336" cy="402336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08760" y="207568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Обслуживает BI Green, не передан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508760" y="2377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 объектов · 22 161 м²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897880" y="1965960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Полный контроль — основной пул пилота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862072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3044952"/>
            <a:ext cx="402336" cy="402336"/>
          </a:xfrm>
          <a:prstGeom prst="ellipse">
            <a:avLst/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508760" y="29718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Передан 29.07–03.08.2026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508760" y="327355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 объектов · 24 240 м²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97880" y="2862072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Кому переданы — уточняет юраудит; монетизация через контракт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758184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14400" y="3941064"/>
            <a:ext cx="402336" cy="402336"/>
          </a:xfrm>
          <a:prstGeom prst="ellipse">
            <a:avLst/>
          </a:prstGeom>
          <a:solidFill>
            <a:srgbClr val="E74C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941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508760" y="386791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Не передан и не обслуживается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508760" y="416966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 объектов · 13 099 м²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897880" y="3758184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Деградирующий актив у наших ЖК — репутационный риск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4654296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14400" y="4837176"/>
            <a:ext cx="402336" cy="402336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837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508760" y="476402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Передан городу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508760" y="506577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44A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 объектов · 34 620 м²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97880" y="4654296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Кандидаты на ГЧП / сервисный контракт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5669280"/>
            <a:ext cx="10911535" cy="548640"/>
          </a:xfrm>
          <a:prstGeom prst="roundRect">
            <a:avLst>
              <a:gd name="adj" fmla="val 23333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60120" y="5669280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Группа C — самое срочное.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13 099 м² не обслуживает никто: газоны и МАФ деградируют на глазах у жителей семи наших комплексов.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2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ПИЛОТА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Двойная цель: экономика и лояльность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Решение зафиксировано: пилот успешен, если территории выходят на самоокупаемость содержания и одновременно растит NPS и ценность квадратного метра.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5312664" cy="2377440"/>
          </a:xfrm>
          <a:prstGeom prst="roundRect">
            <a:avLst>
              <a:gd name="adj" fmla="val 5385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74320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FD8A5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ФИНАНСОВАЯ ЦЕЛЬ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32688" y="3054096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Покрытие OPEX доходами территории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32688" y="3785616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Прибыль не требуется. Территория перестаёт быть дотационной: содержание оплачивают трафик, арендаторы, спонсоры и город — не жители.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6208" y="2487168"/>
            <a:ext cx="5312664" cy="2377440"/>
          </a:xfrm>
          <a:prstGeom prst="roundRect">
            <a:avLst>
              <a:gd name="adj" fmla="val 5385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28816" y="274320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СТРАТЕГИЧЕСКАЯ ЦЕЛЬ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528816" y="3054096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NPS жителей и ценность м²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28816" y="3785616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Активированная территория — аргумент продаж и удержания: замеряем разрыв NPS «участвует/не участвует» и премию к цене у активированных объектов.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5138928"/>
            <a:ext cx="10911535" cy="777240"/>
          </a:xfrm>
          <a:prstGeom prst="roundRect">
            <a:avLst>
              <a:gd name="adj" fmla="val 16471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5138928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Связка с «Лигой Добрососедства»: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соседские форматы и волонтёрское ядро BIG Life создают бесплатный регулярный трафик — тот самый, который затем монетизируют кофе-точка, ярмарка и спонсоры.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7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ОГРАНИЧЕНИЕ №1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Сезонность Астаны — стержень всей экономики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Помесячная кривая трафика и OPEX (иллюстративно, калибруется замерами нулевого спринта). Зимой трафик падает на 70–90%, а расходы не падают: снегоуборка замещает полив и покос.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487168"/>
          <a:ext cx="69494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760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Трафик, % от пикового месяца — тёплый сезон даёт ~80% годового трафика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955280" y="2487168"/>
            <a:ext cx="3596335" cy="3566160"/>
          </a:xfrm>
          <a:prstGeom prst="roundRect">
            <a:avLst>
              <a:gd name="adj" fmla="val 359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47888" y="272491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ДВА ПРАВИЛА МОДЕЛИ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247888" y="309067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1. Все расчёты — помесячные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247888" y="340156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Отдельные сезонные кривые для трафика и каждой статьи OPEX. Годовые средние прячут убыток пяти зимних месяцев.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247888" y="42611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2. Зимняя активация — только Т3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8247888" y="4572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Каток, горка и свет оправданы на плейхабах. Аллеи зимой — режим «чисто и безопасно» с минимальным OPEX.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5" name="Image 0" descr="assets/big-life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ПОДХОД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Три типа территорий = три финансовые модели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Монетизируется не аренда метров, а трафик, который создаёт программа. Поэтому каждой модели — своё меню активностей и коммерции.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95728"/>
            <a:ext cx="3429000" cy="352044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633472"/>
            <a:ext cx="457200" cy="457200"/>
          </a:xfrm>
          <a:prstGeom prst="ellipse">
            <a:avLst/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263347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Транзитная аллея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96112" y="31821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 1 000 м² · 6 объектов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96112" y="3602736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Чистая, освещённая связка. Поштучно не окупается нигде в мире — работает только в кластере под одной командой.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96112" y="4526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Вендинг · спонсорство · навигация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96112" y="5120640"/>
            <a:ext cx="2926080" cy="566928"/>
          </a:xfrm>
          <a:prstGeom prst="roundRect">
            <a:avLst>
              <a:gd name="adj" fmla="val 14516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512064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OPEX: </a:t>
            </a:r>
            <a:pPr indent="0" marL="0">
              <a:buNone/>
            </a:pPr>
            <a:r>
              <a:rPr lang="en-US" sz="13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10–30%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43400" y="2395728"/>
            <a:ext cx="3429000" cy="352044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99432" y="2633472"/>
            <a:ext cx="457200" cy="45720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99432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263347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Активная аллея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99432" y="31821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1 000–7 000 м² · 24 объекта · ядро портфеля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99432" y="3602736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Районная ось: один коммерческий якорь + еженедельный ритм событий + 6–8 сезонных ярмарок.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99432" y="4526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НТО-аренда · ярмарки · секции · реклама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99432" y="5120640"/>
            <a:ext cx="2926080" cy="566928"/>
          </a:xfrm>
          <a:prstGeom prst="roundRect">
            <a:avLst>
              <a:gd name="adj" fmla="val 14516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45736" y="512064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OPEX: </a:t>
            </a:r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40–70%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046720" y="2395728"/>
            <a:ext cx="3429000" cy="352044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302752" y="2633472"/>
            <a:ext cx="457200" cy="45720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02752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869680" y="263347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Плейхаб / сквер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302752" y="31821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 функции: Аква 1, Авеню 5, Сезым, парк ЗК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302752" y="3602736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Событийное ядро микрорайона. Единственный тип с круглогодичной экономикой и зимней активацией.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302752" y="4526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Всё меню + события + каток зимой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302752" y="5120640"/>
            <a:ext cx="2926080" cy="566928"/>
          </a:xfrm>
          <a:prstGeom prst="roundRect">
            <a:avLst>
              <a:gd name="adj" fmla="val 14516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49056" y="512064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OPEX: </a:t>
            </a:r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70–100%+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4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МОНЕТИЗАЦИЯ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Меню монетизации по типам</a:t>
            </a:r>
            <a:endParaRPr lang="en-US" sz="3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685800"/>
                <a:gridCol w="685800"/>
                <a:gridCol w="685800"/>
                <a:gridCol w="5650992"/>
              </a:tblGrid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Инструмент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Т1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Т2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Т3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Комментарий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Вендинг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Единственная «коммерция» микро-аллей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Спонсорство объектов (adopt-a-*)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Локальный бизнес, годовые пакеты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Реклама и digital-экраны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опц.</a:t>
                      </a:r>
                      <a:endParaRPr lang="en-US" sz="8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Зависит от юрстатуса земли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НТО-аренда: фикс + % с оборота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Якорь Т2; павильон — CAPEX арендатора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Ярмарки: сбор с продавца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Плюс инкубатор микробизнеса жителей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Слоты платных секций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Тренер платит за слот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Кикшеринг и прокат: rev-share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Слоты операторов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Событийная аренда площадки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опц.</a:t>
                      </a:r>
                      <a:endParaRPr lang="en-US" sz="8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Частные и корпоративные события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Зимняя активация: каток, прокат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Отдельный инвесткейс, после сезона-1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 года / нейминг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опц.</a:t>
                      </a:r>
                      <a:endParaRPr lang="en-US" sz="8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Один якорный партнёр на объект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Два защитных правила: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каждом договоре с оператором — квота бесплатных часов для сообщества (урок японского Park-PFI); платят коммерсанты, спонсоры и город — не жители.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МЕХАНИЗМ 4 · ДЛЯ ПЕРЕДАННЫХ ГОРОДУ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 и сервисный контракт: прецедент уже в компании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Sphere Park (7 га парк + 2 га озеро у школы BINOM, привязка к Capital Park) — готовая структура сделки по механизму ГЧП «частная инициатива», модель BTO.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ГЧП-контракт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 rot="5400000">
            <a:off x="2688336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52928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54096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54096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054096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Финансирование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100% частное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 rot="5400000">
            <a:off x="4901184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65776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66944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66944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266944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Строительство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 год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 rot="5400000">
            <a:off x="7114032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78624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79792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79792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479792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Передача на баланс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государства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 rot="5400000">
            <a:off x="9326880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91472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692640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92640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692640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Эксплуатация 5 лет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+ компенсации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3977640"/>
            <a:ext cx="3429000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~2,2 млрд тг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96112" y="448056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инвестиции частного партнёра, компенсация из бюджета МИО в 2026–2031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343400" y="3977640"/>
            <a:ext cx="3429000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99432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~0,33 млрд тг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599432" y="448056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компенсация эксплуатации за 5 лет — городской бенчмарк базового содержания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046720" y="3977640"/>
            <a:ext cx="3429000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2752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0%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8302752" y="448056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софинансирование государства на старте — вся стройка за счёт партнёра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40080" y="5285232"/>
            <a:ext cx="10911535" cy="713232"/>
          </a:xfrm>
          <a:prstGeom prst="roundRect">
            <a:avLst>
              <a:gd name="adj" fmla="val 1794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" y="5285232"/>
            <a:ext cx="102714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Перенос на портфель: </a:t>
            </a:r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 ЗК (17 000 м²) и крупные переданные объекты — кандидаты на ГЧП при реконструкции; мелкие — сервисный контракт на содержание силами BI Green: город получает качество у витринных ЖК, BI — возврат доходности.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6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42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ИНВЕСТИЦИИ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Структура CAPEX: слой активации, а не реконструкция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Подход LQC — lighter, quicker, cheaper: достраиваем монетизирующий и событийный слой поверх готового благоустройства. Спрос проверяем до тяжёлых инвестиций.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4871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Проектирование и юраудит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212080" y="248716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5–8%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309360" y="2596896"/>
            <a:ext cx="27432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91693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Электрика и свет (точки НТО, подсветка)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212080" y="291693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15–20%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9360" y="3026664"/>
            <a:ext cx="82296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34670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Покрытия, МАФ, навигация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212080" y="334670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20–30%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3456432"/>
            <a:ext cx="109728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7764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Коммерческая инфраструктура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212080" y="377647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10–15%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0" y="3886200"/>
            <a:ext cx="54864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206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Активити: детская, воркаут, сцена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212080" y="42062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15–25%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0" y="4315968"/>
            <a:ext cx="82296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6360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Озеленение и полив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212080" y="46360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8–12%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309360" y="4745736"/>
            <a:ext cx="438912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06577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Digital: счётчики, Wi-Fi, экран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212080" y="506577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5–8%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309360" y="5175504"/>
            <a:ext cx="27432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54955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Резерв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212080" y="54955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10%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09360" y="5605272"/>
            <a:ext cx="54864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29600" y="2487168"/>
            <a:ext cx="3322015" cy="2743200"/>
          </a:xfrm>
          <a:prstGeom prst="roundRect">
            <a:avLst>
              <a:gd name="adj" fmla="val 4667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503920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ОРИЕНТИР БЮДЖЕТА АКТИВАЦИИ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503920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189720" y="30358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3–8 млн тг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503920" y="36027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189720" y="360273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15–40 млн тг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503920" y="416966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189720" y="41696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40–120 млн тг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503920" y="468172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Порядки для планирования, не сметы. Верх Т3 — с зимним пакетом. Павильоны — CAPEX арендаторов.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" y="59436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Сметы даст проектирование (октябрь–ноябрь) после юраудита и выбора объектов.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4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ПЕРИМЕТР ПИЛОТА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Три объекта — по одному каждого типа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Все из группы A (полный контроль, обслуживает BI Green). Финальная фиксация — после юраудита и геокластеризации в сентябре.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95728"/>
            <a:ext cx="342900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633472"/>
            <a:ext cx="566928" cy="310896"/>
          </a:xfrm>
          <a:prstGeom prst="roundRect">
            <a:avLst>
              <a:gd name="adj" fmla="val 26471"/>
            </a:avLst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3347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30358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Плейхаб Аква 1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96112" y="3364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2 385 м² · сквер 2025 г.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96112" y="36758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Свежая инфраструктура, готов к нулевому спринту немедленно. Флагман пилота и площадка зимней активации.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43400" y="2395728"/>
            <a:ext cx="342900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99432" y="2633472"/>
            <a:ext cx="566928" cy="310896"/>
          </a:xfrm>
          <a:prstGeom prst="roundRect">
            <a:avLst>
              <a:gd name="adj" fmla="val 26471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99432" y="263347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99432" y="30358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Аллея Nexpo Классик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99432" y="3364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6 200 м² · крупнейшая в группе 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99432" y="36758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Модель «якорь + ритм»: кофе-павильон, ярмарки, секции. Альтернатива — Хедлайнер Эксклюзив (4 000 м²).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46720" y="2395728"/>
            <a:ext cx="342900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302752" y="2633472"/>
            <a:ext cx="566928" cy="310896"/>
          </a:xfrm>
          <a:prstGeom prst="roundRect">
            <a:avLst>
              <a:gd name="adj" fmla="val 26471"/>
            </a:avLst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02752" y="263347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02752" y="30358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Аура Аллея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302752" y="3364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800 м² · соседствует с Хедлайнером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302752" y="36758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Кластерная связка с крупной аллеей: одна команда, общий календарь — проверяем экономику кластера.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5029200"/>
            <a:ext cx="10911535" cy="960120"/>
          </a:xfrm>
          <a:prstGeom prst="roundRect">
            <a:avLst>
              <a:gd name="adj" fmla="val 13333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60120" y="51937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НУЛЕВОЙ СПРИНТ — УЖЕ В СЕНТЯБРЕ, БЕЗ CAPEX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60120" y="5486400"/>
            <a:ext cx="102714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Плейхаб Аква 1: 3–4 события из календаря «Лиги Добрососедства» + временная кофе-точка + счётчики трафика + базовый замер NPS. Результат к декабрю — фактические данные для Excel-финмоделей вместо чистых бенчмарков.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ИЗМЕРЕНИЕ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KPI пилота: 12 месяцев</a:t>
            </a:r>
            <a:endParaRPr lang="en-US" sz="3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120640"/>
                <a:gridCol w="405079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Контур</a:t>
                      </a:r>
                      <a:endParaRPr lang="en-US" sz="11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Метрика</a:t>
                      </a:r>
                      <a:endParaRPr lang="en-US" sz="11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Цель 12 мес.</a:t>
                      </a:r>
                      <a:endParaRPr lang="en-US" sz="11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Финансы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Покрытие OPEX доходами по типам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Т1: 10–30% · Т2: 40–70% · Т3: 70%+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Финансы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OPEX/м² лето и зима, эффект кластера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Снижение OPEX/м² на кластерных объектах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Трафик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Посещений в день (счётчики + public life замеры)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×2 к базлайну нулевого спринта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Трафик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Заявки на событийные слоты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Заявок больше, чем слотов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NPS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Разрыв NPS: участвует / не участвует в активностях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+15 пунктов и больше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Сообщество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Регулярные форматы без пропусков; доля событий от жителей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2+ формата на объект; 30%+ событий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Ценность м²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Премия аренды/цены у активированных территорий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Фиксация тренда (горизонт 24+ мес.)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Базлайны трафика и NPS снимаем в сентябре, до активации — иначе эффект пилота будет не с чем сравнивать.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ШАГ 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Юраудит: статус земли определяет меню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Правовой статус территорий пёстрый. До CAPEX-решений — аудит всех 31 объекта: он же закрывает вопрос, кому переданы 7 объектов в июле–августе 2026.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10911535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770632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2487168"/>
            <a:ext cx="3474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Земля BI / дочерних структур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846320" y="2487168"/>
            <a:ext cx="3383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Всё меню монетизации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412480" y="2487168"/>
            <a:ext cx="28648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Решение компании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566160"/>
            <a:ext cx="10911535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96112" y="3849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3566160"/>
            <a:ext cx="3474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Общедолевая собственность жителей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46320" y="3566160"/>
            <a:ext cx="3383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НТО, реклама, события — с согласия ОСИ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412480" y="3566160"/>
            <a:ext cx="28648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Revenue-share: часть дохода в бюджет двора — работает и на NPS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4645152"/>
            <a:ext cx="10911535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96112" y="4928616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4645152"/>
            <a:ext cx="3474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Городская земля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846320" y="4645152"/>
            <a:ext cx="3383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ГЧП, сервисный контракт, согласованные НТО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412480" y="4645152"/>
            <a:ext cx="28648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 с акиматом / УООСиП — прецедент Sphere Park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Меню деградирует изящно: спонсорство, события и вендинг доступны почти при любом статусе — юраудит меняет состав меню, но не останавливает пилот.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3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ПЛАН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Дорожная карта: от нулевого спринта к сезону-1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Сен 2026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14400" y="2990088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52144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Юраудит 31 объекта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14400" y="3557016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52144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Нулевой спринт на Аква 1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14400" y="4123944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52144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Базлайны: трафик, NPS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14400" y="4690872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52144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Факт OPEX от BI Green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 rot="5400000">
            <a:off x="3255264" y="3566160"/>
            <a:ext cx="137160" cy="137160"/>
          </a:xfrm>
          <a:prstGeom prst="triangle">
            <a:avLst/>
          </a:prstGeom>
          <a:solidFill>
            <a:srgbClr val="8A93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10712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66744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66744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Окт–Ноя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685032" y="2990088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22776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Финализация 3 объектов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85032" y="3557016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22776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Концепт-дизайн LQC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85032" y="4123944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22776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Excel-финмодели на фактах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685032" y="4690872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22776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Переговоры с операторами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 rot="5400000">
            <a:off x="6025896" y="3566160"/>
            <a:ext cx="137160" cy="137160"/>
          </a:xfrm>
          <a:prstGeom prst="triangle">
            <a:avLst/>
          </a:prstGeom>
          <a:solidFill>
            <a:srgbClr val="8A93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81344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37376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37376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Дек–Мар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455664" y="2990088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93408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Утверждение CAPEX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55664" y="3557016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93408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Договоры с арендаторами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55664" y="4123944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93408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Волонтёрское ядро через Лигу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55664" y="4690872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93408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Монтаж с марта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 rot="5400000">
            <a:off x="8796528" y="3566160"/>
            <a:ext cx="137160" cy="137160"/>
          </a:xfrm>
          <a:prstGeom prst="triangle">
            <a:avLst/>
          </a:prstGeom>
          <a:solidFill>
            <a:srgbClr val="8A93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51976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9208008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208008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Апр–Окт 2027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9226296" y="2990088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464040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Запуск сезона-1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9226296" y="3557016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464040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Помесячные замеры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9226296" y="4123944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464040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Октябрь: факт vs модель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9226296" y="4690872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464040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Go/no-go тиражирования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40080" y="5532120"/>
            <a:ext cx="10911535" cy="566928"/>
          </a:xfrm>
          <a:prstGeom prst="roundRect">
            <a:avLst>
              <a:gd name="adj" fmla="val 22581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960120" y="5532120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Ноябрь 2027+: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зимняя активация Т3 (если сезон-1 подтвердил трафик) и подготовка ГЧП/сервисных контрактов по группе D.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55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РИСКИ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Шесть рисков и противоядия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209397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Коммерция вытесняет жителей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96112" y="242316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Квота бесплатных часов и зон в каждом договоре с оператором — урок японского Park-PFI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236208" y="196596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209397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Монетизация «об жителей» бьёт по NPS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92240" y="242316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Платят коммерсанты, спонсоры и город; жителям — бесплатное ядро программы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29184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96112" y="341985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Сезонность съедает экономику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374904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Помесячная модель; зимний минимум на Т1/Т2; зимняя активация только на Т3 после проверки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36208" y="329184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41985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Микрообъекты убыточны всегда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92240" y="374904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Только кластерное управление: одна команда на 3–5 объектов; поштучные Т1 не активируем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461772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96112" y="474573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Выгорание событийной команды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96112" y="507492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Волонтёрское ядро + оплачиваемый координатор кластера — несущая конструкция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36208" y="461772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92240" y="474573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Юрстатус блокирует коммерцию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92240" y="507492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Аудит до CAPEX; меню деградирует изящно — спонсорство и события работают почти всегда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12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4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137160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ПРОСИМ ПЯТЬ РЕШЕНИЙ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40080" y="187452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417320" y="1874520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Одобрить пилот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1417320" y="22402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 объекта (Т1 + Т2 + Т3), горизонт 12 месяцев, двойная цель: покрытие OPEX + NPS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" y="2715768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02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417320" y="2715768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Санкционировать юраудит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1417320" y="308152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31 территория, сентябрь — статусы земли и адресаты передач июля–августа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3557016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03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417320" y="3557016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Утвердить нулевой спринт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1417320" y="392277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Плейхаб Аква 1, сентябрь–октябрь, в рамках текущих бюджетов мероприятий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4398264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04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417320" y="4398264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Поручить передать факт OPEX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1417320" y="4764024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Green / BI Service: 2024–2026 по группе A, по статьям, лето/зима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523951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05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1417320" y="5239512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Рассмотреть CAPEX в декабре</a:t>
            </a:r>
            <a:endParaRPr lang="en-US" sz="1650" dirty="0"/>
          </a:p>
        </p:txBody>
      </p:sp>
      <p:sp>
        <p:nvSpPr>
          <p:cNvPr id="18" name="Text 15"/>
          <p:cNvSpPr/>
          <p:nvPr/>
        </p:nvSpPr>
        <p:spPr>
          <a:xfrm>
            <a:off x="1417320" y="560527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 базе Excel-финмоделей, откалиброванных данными нулевого спринта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" y="6263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Концепция: docs/research/park-pilot-concept.md · Исследование мировых практик: park-community-management.md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BI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Пилот: парки и аллеи BI</dc:title>
  <dc:subject>PptxGenJS Presentation</dc:subject>
  <dc:creator>BI Service</dc:creator>
  <cp:lastModifiedBy>BI Service</cp:lastModifiedBy>
  <cp:revision>1</cp:revision>
  <dcterms:created xsi:type="dcterms:W3CDTF">2026-08-13T09:13:37Z</dcterms:created>
  <dcterms:modified xsi:type="dcterms:W3CDTF">2026-08-13T09:13:37Z</dcterms:modified>
</cp:coreProperties>
</file>