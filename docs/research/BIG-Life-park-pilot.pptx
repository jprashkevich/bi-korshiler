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Flora считаются одним объектом: команда, календарь и вендинг общие. Обмер показал 2 722 м² общей площади — вдвое больше прежней оценки: середина вилок ~18%, консервативный сценарий (8%) уходит ниже коридора. Ремфонд несёт 72 млн тг активов.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Хедлайнер Эксклюзив: 2023 год, свежая инфраструктура. По обмеру общая площадь 4 100 м² — почти совпадает с озеленением, уборка и свет дешевеют вдвое, покрытие уходит выше коридора. Справки о балансовой стоимости пока нет — ремфонд считаем от CAPEX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Единственный тип с шансом выйти в плюс. Ключевая ставка: зима, как второй пик Горького. После объезда Авеню 5 — резерв: модель Т3 держим для второй волны, расчёт остаётся эталонным. На балансе сквера только зелень на 2,1 млн тг — отсюда CAPEX-вилка 40–120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Упр. — номер Управления BI Service. Общая площадь — обмер контуров Google Earth (18.08.2026); Юнион — оценка по аналогу Классика (×1,74), нижняя граница 2 634 м² подтверждена по OSM. Шорт-лист из рабочей таблицы от 08.08.2026, разметка типов сохранена. Пилоты: Авеню 5, Хедлайнер Эксклюзив и объединённые Flora 1+2 — кластер из двух микро-аллей, прямая проверка кластерной экономики Т1.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Площади: озеленение / общая по обмеру Google Earth 18.08.2026; Юнион — оценка по аналогу. Суммы из справок ТОО-застройщиков, август 2026. Nexpo Классик включает землю за 57 млн тг. Гранд Туран: спецификация материалов без НДС. Полная разбивка по категориям — в Excel-модели, лист «Активы».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 утверждён после объезда территорий. Сквер Авеню 5 ушёл в резерв как кандидат Т3 второй волны. Точку старта нулевого спринта внутри периметра выбираем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Снимки из файла обмеров от 18.08.2026. Гранд Туран — широкая пешеходная ось с активами на 129 млн. Кластер: Хедлайнер (три полосы) плюс лента Аура — Flora 1 — Flora 2 вдоль одной улицы.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план на утверждение бюджета содержания с Управлениями 2 и 4 — пункт 2 из решения рабочей группы. Вилки нормативные; факт BI Green уточнит ставки в нулевом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Шаги из решения рабочей группы. Юраудит закрывает главный риск монетизации; операторов зимы ищем до конца октября, чтобы успеть к сезону.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 озеленения;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общая — по обмеру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объектов в пилоте: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контура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ТРАНЗИТНАЯ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 в цифрах: Flora 1 + 2, кластер 676 м²</a:t>
            </a:r>
            <a:endParaRPr lang="en-US" sz="3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Вендинг, 1–2 автомата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точки 25–45 тыс тг/мес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«Усынови клумбу»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3–5 спонсоров по 80–150 тыс тг/год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на навигации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2 722 м² общей (обмер) по 60–90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2,0–2,9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Освещение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площади, длинная зимняя ночь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1/5 ставки на пару объектов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в год от 72 млн тг активов кластера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4,3–6,6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Обмер удвоил уборочную площадь: середина вилок ~18%. Кластер работает, но потолок Т1 стал честнее.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Кластер: общий координатор и бригада, не своя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Спонсоры продлеваются на второй год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пропускает рекламу на стелах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АКТИВНАЯ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 в цифрах: Хедлайнер Эксклюзив, 4 000 м²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НТО-якорь: кофе-павильон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120–250 тыс тг/мес + 2–5%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Ярмарка выходного дня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12–16 ярмарок, 15–25 мест по 3–5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Секции и кикшеринг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тренерам + rev-share операторов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Digital-экран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воркаут, клумбы, скамейки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4,4–10,2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 м² общей (обмер) по 30–55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1,5–2,7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1,1–2,0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 и электро для НТО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 площадь + событийные подключения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20–30 событий по 95–130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1,9–3,9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1/3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CAPEX активации до справки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6,2–11,3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Обмер сжал общую площадь вдвое: середина вилок ~84%, выше коридора. Аллея почти целиком зелёная.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Якорь-павильон заполнен с мая по сентябрь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Ярмарка стала привычкой района: 12+ за сезон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Вечерние слоты секций выкуплены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ПЛЕЙХАБ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 в цифрах: Сквер Авеню 5, 1 700 м²</a:t>
            </a:r>
            <a:endParaRPr lang="en-US" sz="3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Две НТО-точки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кофе и выпечка: аренда + 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Каток: прокат и билеты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компактный контур, 120–160 дней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10–18 частных и корпоративных событий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1,0–2,8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Ярмарки, маркеты, секции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круглогодичный календарь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1,3–2,6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+ экран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7,7–17,4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3 114 м² общей (обмер) по 60–100 тг/м²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Свет, электро, Wi-Fi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 + архитектурная подсветка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Зимний пакет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заливка, уход за льдом, персонал проката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2,5–4,5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30–45 событий в 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2,8–5,9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и событийщик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доли двух ставок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активов (2,1 млн) + CAPEX активации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11,4–21,0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~77%. Каток и спонсор года раскручиваются ко второму-третьему году.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 отработал первую зиму без простоев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Заявок на события больше, чем слотов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 года подписан до старта сезона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ШОРТ-ЛИСТ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Девять объектов в шорт-листе, три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— из реестра, общая площадь — обмер по спутнику от 18.08.2026; у Nexpo Юнион — оценка по аналогу. Состав пилота утверждён после объезда территорий.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548640"/>
                <a:gridCol w="566928"/>
                <a:gridCol w="1645920"/>
                <a:gridCol w="1719072"/>
                <a:gridCol w="2039112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Гр.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Упр.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 (факт)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Роль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контур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3 114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 · кандидат Т3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10 805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2 843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C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~4 200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Резерв; не обслуживается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Итого: 9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Т1 · 5 Т2 · 1 Т3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~36 258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АКТИВЫ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уже стоит на этих аллеях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Справки застройщиков: на восьми объектах шорт-листа активы на ~0,5 млрд тг, плотностью до 43 тыс тг на м². Пилот получает не пустыри, а работающую инфраструктуру — её надо содержать и не дать ей тихо самортизироваться.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600200"/>
                <a:gridCol w="1188720"/>
                <a:gridCol w="53309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Площади,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Активы, млн тг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на балансе (по справке)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/ 3 114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только озеленение: 458 растений. Света, МАФов и покрытий на балансе нет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/ 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справка запрошена у застройщика, внесём после нулевого спринта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1 696 растений, 10 скамеек, 20 фонарей, гирлянда 300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1 121 растение, 8 скамеек, 20 фонарей, гирлянда 480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 / 10 805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135,4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детское ядро: две горки, батут, карусель; автополив; земля 0,37 га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 / 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129,1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покрытия ~5 200 м², десять игровых комплексов, 27 скамеек, 23 опоры света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 / ~4 200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73,4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комплекс со скалодромом за 42 млн, воркаут, теннис, 54 светильника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 / 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60,3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 2 000 м², 2 268 растений, 11 скамеек, гирлянда 250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 / 2 843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31,8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мини-поле с искусственной травой, баскетбол, воркаут-серия, канатный лаз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 по восьми справкам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 / ~36 258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504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 в финмоделях: 1–1,5% стоимости активов и новых вложений в 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после объезда: два контура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Рабочая группа проехала по аллеям и выбрала не три одиночных объекта, а крупную активную аллею плюс кластер из четырёх соседних. Все пять — группа A, обслуживает BI Green.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5321808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Гранд Туран Комфорт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2 300 м² озеленения · 7 059 м² общей · Управление 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Самая насыщенная аллея портфеля: активы на 129 млн тг — покрытия ~5 200 м², десять игровых комплексов, 27 скамеек. Модель активной аллеи: якорь, ярмарки, секции.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36208" y="2395728"/>
            <a:ext cx="5321808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2633472"/>
            <a:ext cx="960120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63347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92240" y="303580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+ Flora 1 + Flora 2 + Аура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2240" y="336499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5 476 м² озеленения · 8 237 м² общей · Управление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92240" y="36758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Четыре аллеи под одной командой: один координатор на 0,93 ставки, общий календарь и бригада. Активы 132+ млн тг; справка по Хедлайнеру в пути.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Три-четыре события из календаря Лиги на пилотном периметре,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СПУТНИК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периметр на снимке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Контуры обмера Google Earth, съёмка июля 2026. Жёлтая линия — граница территории: по ней посчитаны общая площадь, уборка и свет.</a:t>
            </a:r>
            <a:endParaRPr lang="en-US" sz="1400" dirty="0"/>
          </a:p>
        </p:txBody>
      </p:sp>
      <p:pic>
        <p:nvPicPr>
          <p:cNvPr id="5" name="Image 0" descr="assets/sat-grandtu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0"/>
            <a:ext cx="2194560" cy="2377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365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Гранд Туран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обмер 7 059 м²</a:t>
            </a:r>
            <a:endParaRPr lang="en-US" sz="1000" dirty="0"/>
          </a:p>
        </p:txBody>
      </p:sp>
      <p:pic>
        <p:nvPicPr>
          <p:cNvPr id="7" name="Image 1" descr="assets/sat-headli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956" y="2286000"/>
            <a:ext cx="2039112" cy="23774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076956" y="4736592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Эксклюзив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4 100 м²</a:t>
            </a:r>
            <a:endParaRPr lang="en-US" sz="1000" dirty="0"/>
          </a:p>
        </p:txBody>
      </p:sp>
      <p:pic>
        <p:nvPicPr>
          <p:cNvPr id="9" name="Image 2" descr="assets/sat-clus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84" y="2286000"/>
            <a:ext cx="6190488" cy="23774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358384" y="4736592"/>
            <a:ext cx="6190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Аура + Flora 1 + Flora 2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1 415 + 1 513 + 1 210 м², с Хедлайнером — кластер 8 237 м²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 — четыре аллеи двух соседних улиц под одной командой. Nexpo Юнион (резерв) в съёмку не попал: в модели оценка ~4 200 м² до замера.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4" name="Image 3" descr="assets/big-life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ЭКОНОМИКА · СОДЕРЖАНИЕ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Бюджет содержания: 18–29 млн тг в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Содержание as-is по нормативам: уборка и свет от обмеренной площади, озеленение от зелёной, ремфонд от активов, координация долями ставок. Формулы — в Excel, лист «Бюджет пилота».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7406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548640"/>
                <a:gridCol w="1097280"/>
                <a:gridCol w="201168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Содержание, 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4,9–8,5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2,0–3,0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1,6–2,4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2,3–3,7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 (0,93 ставки на четыре аллеи)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3,3–4,7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Гранд Турана (0,33 ставки)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Кластер, итого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8 237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12,1–19,0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Гранд Туран, итого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6,1–10,2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Пилот: содержание, итого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15 296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18,2–29,2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2331720"/>
            <a:ext cx="3322015" cy="1737360"/>
          </a:xfrm>
          <a:prstGeom prst="roundRect">
            <a:avLst>
              <a:gd name="adj" fmla="val 7368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2496312"/>
            <a:ext cx="2809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ВНУТРИ СТАВКИ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485632" y="2761488"/>
            <a:ext cx="280995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Уборка и снегоуборка круглый год, уход за насаждениями и полив апрель–октябрь, свет и электроэнергия, ремфонд 1–1,5% от стоимости активов, координация.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0" y="4224528"/>
            <a:ext cx="3322015" cy="1371600"/>
          </a:xfrm>
          <a:prstGeom prst="roundRect">
            <a:avLst>
              <a:gd name="adj" fmla="val 6667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0" y="4224528"/>
            <a:ext cx="2956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входит: программа активации — 3,8–7,8 млн тг на два контура по нормативу событий. Ремфонд Хедлайнера пока 0: ждём справку о балансовой стоимости.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26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ДОРОЖНАЯ КАРТА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шага до запуска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рабочей группы после объезда: юраудит, бюджет содержания, операторы зимы. Каждому шагу — свой владелец и дедлайн.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42900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96112" y="29626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Юридический аудит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3255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сентябрь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14400" y="3703320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118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пяти территорий: чья, какой режим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914400" y="4361688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27024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можно сдавать: НТО, аренда, реклама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5020056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92861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Mobile food и летние площадки: схема размещения, СанПиН, правила благоустройства Астаны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43400" y="2286000"/>
            <a:ext cx="342900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99432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99432" y="29626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Бюджет содержания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9432" y="3255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готов к защите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3703320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6118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18–29 млн тг в год на весь периметр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0" y="4361688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7024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Лист «Бюджет пилота» в Excel-модели: формулы от нормативов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17720" y="5020056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92861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с Управлениями 2 и 4, ставки сверить с фактом BI Green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46720" y="2286000"/>
            <a:ext cx="342900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02752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8302752" y="29626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зимы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02752" y="3255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321040" y="3703320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36118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Встречи с арендаторами: кофе, ярмарки, секции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321040" y="4361688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03920" y="427024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Катки и зимние парки: короткий список операторов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321040" y="5020056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0" y="492861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Условия сделки: аренда + процент оборота, квоты бесплатных часов жителям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27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7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2026-08-24T10:13:44Z</dcterms:created>
  <dcterms:modified xsi:type="dcterms:W3CDTF">2026-08-24T10:13:44Z</dcterms:modified>
</cp:coreProperties>
</file>