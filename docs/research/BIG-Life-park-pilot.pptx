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Трафик, % от пикового месяца</c:v>
                </c:pt>
              </c:strCache>
            </c:strRef>
          </c:tx>
          <c:spPr>
            <a:solidFill>
              <a:srgbClr val="009F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A93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12</c:v>
                </c:pt>
                <c:pt idx="2">
                  <c:v>18</c:v>
                </c:pt>
                <c:pt idx="3">
                  <c:v>45</c:v>
                </c:pt>
                <c:pt idx="4">
                  <c:v>85</c:v>
                </c:pt>
                <c:pt idx="5">
                  <c:v>100</c:v>
                </c:pt>
                <c:pt idx="6">
                  <c:v>100</c:v>
                </c:pt>
                <c:pt idx="7">
                  <c:v>95</c:v>
                </c:pt>
                <c:pt idx="8">
                  <c:v>75</c:v>
                </c:pt>
                <c:pt idx="9">
                  <c:v>45</c:v>
                </c:pt>
                <c:pt idx="10">
                  <c:v>15</c:v>
                </c:pt>
                <c:pt idx="1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A93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2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этого начинаем: у нас 9,4 га общественных пространств, и сегодня это чистый расход. За 12 месяцев проверим три модели, которые превращают их в управляемый актив.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тезис презентации: вкладываемся в инфраструктуру связей между жителями, а не в газоны. Из него растёт двойная цель пилота.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Слои читаются снизу вверх по стоимости и сверху вниз по ценности. Бюджеты благоустройства обычно устроены ровно наоборот; пилот это исправляет.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цифра привязана к источнику. ×3: синтез по 11 крупнейшим городам США. 85%: семь пилотных территорий NHS England.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матрица выбора модели лежит в исследовании. Мысль слайда простая: ничего не изобретаем, комбинируем три проверенные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85% по данным PPS, показатель исторический: абсолютные суммы с тех пор кратно выросли. Фото вставить перед защитой, слоты размечены.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Прямая связка со слайдом ГЧП: Sphere Park и есть казахстанская версия этого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Нижний фото-слот оставлен под наш контент: события Лиги уже дают фотоматериал.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близкий нам кейс: постсоветский парк, настоящая зима, кратный рост трафика за один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Принципы уже в деле: №6 зашит в CAPEX-подход, №7 в расстановку НТО и скамеек, №10 в ставку на вовлечённость вместо большого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карточка описывает сделку, а не список желаний. Полная таблица форматов лежит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 пилотной части: дальше смотрим, как инструментарий ложится на наш портфель из 31 территории.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Суть слайда: перед нами 9,4 га витрины наших ЖК в четырёх разных управленческих режимах.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Трафик здесь общая валюта: он двигает и выручку операторов, и NPS.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кривой иллюстративный, откалибруем счётчиками нулевого спринта. Форма не изменится: пять тёплых месяцев дают почти весь трафик.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Проценты пока гипотезы, а не обещания. Пилот и существует ради того, чтобы заменить их фактом.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означает основной инструмент, «опц.» опциональный. Меню гибкое: спонсорство и события работают почти при любом юрстатусе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Flora считаются одним объектом: команда, календарь и вендинг общие. Обмер показал 2 722 м² общей площади — вдвое больше прежней оценки: середина вилок ~18%, консервативный сценарий (8%) уходит ниже коридора. Ремфонд несёт 72 млн тг активов.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Хедлайнер Эксклюзив: 2023 год, свежая инфраструктура. По обмеру общая площадь 4 100 м² — почти совпадает с озеленением, уборка и свет дешевеют вдвое, покрытие уходит выше коридора. Справки о балансовой стоимости пока нет — ремфонд считаем от CAPEX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Единственный тип с шансом выйти в плюс. Ключевая ставка: зима, как второй пик Горького. После объезда Авеню 5 — резерв: модель Т3 держим для второй волны, расчёт остаётся эталонным. На балансе сквера только зелень на 2,1 млн тг — отсюда CAPEX-вилка 40–120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группа D, 34 620 м². Механизму не нужна наша земля: город платит за качество содержания и инфраструктуру в рассрочку.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 на строку коммерческой инфраструктуры: мы готовим место и сети, павильон строит арендатор. Наш CAPEX ниже, его вовлечённость выше.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Упр. — номер Управления BI Service. Общая площадь — обмер контуров Google Earth (18.08.2026); Юнион — оценка по аналогу Классика (×1,74), нижняя граница 2 634 м² подтверждена по OSM. Шорт-лист из рабочей таблицы от 08.08.2026, разметка типов сохранена. Пилоты: Авеню 5, Хедлайнер Эксклюзив и объединённые Flora 1+2 — кластер из двух микро-аллей, прямая проверка кластерной экономики Т1.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Площади: озеленение / общая по обмеру Google Earth 18.08.2026; Юнион — оценка по аналогу. Суммы из справок ТОО-застройщиков, август 2026. Nexpo Классик включает землю за 57 млн тг. Гранд Туран: спецификация материалов без НДС. Полная разбивка по категориям — в Excel-модели, лист «Активы».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 утверждён после объезда территорий. Сквер Авеню 5 ушёл в резерв как кандидат Т3 второй волны. Нулевой спринт стартует на Гранд Туране: готовая инфраструктура, максимум активов, есть где ставить события.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Снимки из файла обмеров от 18.08.2026. Гранд Туран — широкая пешеходная ось с активами на 129 млн. Кластер: Хедлайнер (три полосы) плюс лента Аура — Flora 1 — Flora 2 вдоль одной улицы.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план на утверждение бюджета содержания с Управлениями 2 и 4 — пункт 2 из решения рабочей группы. Вилки нормативные; факт BI Green уточнит ставки в нулевом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Шаги из решения рабочей группы. Юраудит закрывает главный риск монетизации; операторов зимы ищем до конца октября, чтобы успеть к сезону.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«заявок больше, чем слотов» взята у Брайант-парка: спрос на площадку выше предложения. Целевое состояние для 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Revenue-share с ОСИ: сильный ход. Двор видит возврат денег от коммерции на своей территории, а это прямой вклад в NPS-цель.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путь: юраудит и факт OPEX в сентябре. Без них финмодели в ноябре останутся на бенчмарках.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взят из задокументированного провала конкретной мировой программы; полный разбор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из решений 1-4 не требует CAPEX. Деньги просим только в декабре, уже на основе фактических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55448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ПРОЕКТ · К ЗАЩИТЕ · АВГУСТ 2026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Парки, которые содержат</a:t>
            </a:r>
            <a:endParaRPr lang="en-US" sz="35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себя сами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на трёх территориях BI: модели, монетизация, структура CAPEX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портфеле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8892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94 120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78892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м² озеленения;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общая — по обмеру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93776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объектов в пилоте: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контура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08660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месяцев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горизонт пилота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ЗАЧЕМ ЭТО РАБОТАЕТ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— это не территория,</a:t>
            </a:r>
            <a:endParaRPr lang="en-US" sz="3000" dirty="0"/>
          </a:p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социальная инфраструктура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760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Пятнадцать лет назад парки числились по ведомству благоустройства. Сегодня города считают их инфраструктурой связей: местом, где жители становятся соседями.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364992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511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Эрик Клиненберг · social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79476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Библиотеки, школы, площадки, парки решают, появятся ли связи между людьми вообще. От их качества зависит устойчивость района к любым кризисам.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700016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8463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Рэй Олденбург · «третье место»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5129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Есть дом, есть работа. А третье место, где встречаются без повода и по-соседски, ещё надо построить. Без него связи не заводятся.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0" y="2304288"/>
            <a:ext cx="4690872" cy="3675888"/>
          </a:xfrm>
          <a:prstGeom prst="roundRect">
            <a:avLst>
              <a:gd name="adj" fmla="val 3483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ЗНАЧИТ ДЛЯ ДЕВЕЛОПЕРА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78040" y="2971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Двор — это фабрика сообщества.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4297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программируешь двор?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Он выпускает пустоту.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78040" y="50474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Исследования подтверждают: чем ближе социальная инфраструктура, тем выше сплочённость и субъективное благополучие жителей.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8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слоя одного двора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слоя свои люди и свои деньги. Привычная ошибка: вложиться в плитку и ждать, что сообщество заведётся само. Пилот работает во всех трёх слоях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50592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88336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5740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057400" y="292608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Кто здесь свои? Лидеры, волонтёры, соседские связи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0" y="2615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Дешевле всех. И дольше всех растёт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822192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822192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3730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Программа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057400" y="4059936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происходит по расписанию? События, кружки, ритуалы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374904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Средние деньги, быстрый эффект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718304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56048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5604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48646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057400" y="51937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стоит? Скамейки, свет, покрытие, туалеты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4882896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Дороже всех; без верхних слоёв эффект выдыхается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32520" y="2450592"/>
            <a:ext cx="2816352" cy="3383280"/>
          </a:xfrm>
          <a:prstGeom prst="roundRect">
            <a:avLst>
              <a:gd name="adj" fmla="val 4545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068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ПРИНЦИП PPS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006840" y="30723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«Money Is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Not the Issue»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40690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Вовлечённость сообщества снижает издержки эффективнее, чем большой капитальный бюджет.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Project for Public Spaces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 · ДАННЫЕ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говорят цифры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×3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Доллар, вложенный в парк, возвращает городу минимум три доллара в год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10712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71 %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66744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Ходят в парк за движением. Ещё 61% снимают там стресс, 46% проводят время с семьёй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66744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37376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Столько должно быть до зелёного пространства от 1 га. Дальше люди просто не доходят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37376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Европейское бюро ВОЗ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51976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08008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85 %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08008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Пациентов соглашаются, когда врач назначает активность в парке вместо таблетки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080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NHS England, 7 пилотов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4690872"/>
            <a:ext cx="10911535" cy="1234440"/>
          </a:xfrm>
          <a:prstGeom prst="roundRect">
            <a:avLst>
              <a:gd name="adj" fmla="val 1037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864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ПРАВИЛО 3–30–300 · НОРМАТИВ ЗЕЛЁНОЙ ДОСТУПНОСТИ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92024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дерева видно из окна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908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30 %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02920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кроновое покрытие района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ближайшего зелёного пространства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5687568"/>
            <a:ext cx="1024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Эти цифры пригодятся в разговорах с акиматом и партнёрами. Источники собраны в исследовании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7 МОДЕЛЕЙ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Семь способов быть хозяином парка</a:t>
            </a:r>
            <a:endParaRPr lang="en-US" sz="3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286000"/>
                <a:gridCol w="2331720"/>
                <a:gridCol w="322783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Модель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Кто управляет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Откуда деньги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берём в пилот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· Муниципальный отдел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Подотчётно, но событий мало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· Conservancy (Центральный 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по договору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Филантропия, эндаумент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Договор с измеримым стандартом сервиса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· BID (Брайант-парк)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на сборе с собственников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Обязательный сбор,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Самоокупаемость через плотную коммерцию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· Park-PFI (Япония)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Частный оператор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 коммерции в парке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Кафе в парке платит за парк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 · Friends of (Сингапур, UK)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 и жители вместе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Бюджет, волонтёры, гранты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 берут заботу на себя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· Right to Challenge (NL)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Переданный бюджет функции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Маршрут передачи функций жителям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· Девелоперская (master assoc.)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УК и ассоциация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Взносы, сервисный сбор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Наша рамка: запускаем, растим, передаём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Модели 2, 4 и 5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разобраны на следующих слайдах: из них собран инструментарий пилота. Модель 7 наша по определению: девелопер запускает, растит и передаёт.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2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Центральный парк: город владеет, фонд управляет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Некоммерческий фонд ведёт парк по договору с городом. Земля остаётся городской, финальное слово за комиссаром по паркам, а в договоре прописан измеримый уровень сервиса.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~85 %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операционного бюджета парка приносит фонд: филантропия и эндаумент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65960" y="34015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сохраняет собственность и верховную власть, поэтому обвинения в приватизации не клеятся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3968496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фиксирует стандарты сервиса цифрами. Никакого «партнёрства вообще»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Договорную дисциплину: у каждой территории паспорт стандарта и один человек, который отвечает за неё как за продукт. Целиком модель не скопировать: она живёт на крупных донорах.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Центральный парк: газон Sheep Meadow, вид на Манхэттен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волонтёры Conservancy за уходом за парком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4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Япония: кафе в парке платит за парк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 2017 года японский город выбирает оператора парка на конкурсе. Оператор ставит кафе и магазины, а прибылью содержит всё некоммерческое: дорожки, площади, зелень.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45 парков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03120" y="29443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анализе применения. Бюджету легче, локальная экономика оживает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тренда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35112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подтверждены исследованиями. Главная беда: коммерция вытесняет активности сообществ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Наш ГЧП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407822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Sphere Park (BTO): та же логика обмена, переложенная на законодательство РК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631A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 обмен «коммерция оплачивает содержание»: это ядро наших моделей Т2 и Т3. И главный урок: в каждый договор с оператором вписываем квоту бесплатных часов для жителей.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Miyashita Park в Токио, парк-платформа с коммерцией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кафе-павильон в парке, финансирующий содержание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5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Сингапур: жители сами ухаживают за парками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Государство помогает жителям делом: методички, обучение, конкурсы, статус амбассадора, площадки обмена опытом. Взамен жители берут часть заботы о территории на себя.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2 000+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03120" y="283464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садоводческих групп в программе Community in Bloom (NParks, с 2005 года)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48 000+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03120" y="34015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участников всех возрастов; амбассадоры, конкурсы, методическая поддержка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Урок Nesta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03120" y="39684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волонтёрским группам нужны обучение и координатор. Бесплатным этот ресурс не бывает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7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6B4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нас эта роль уже занята: «Лига Добрососедства» и BIG Life дают волонтёрское ядро и регулярный трафик. Обязательное условие: оплачиваемый координатор кластера и школа лидеров.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общественный сад Community in Bloom, Сингапур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соседское событие «Лиги Добрососедства» BI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БЛИЖНИЙ КЕЙС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Горького: с 3,7 до 8 млн гостей за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2011 году парк убрал платный вход, задал жёсткий стандарт чистоты, включил Wi-Fi и забил расписание событиями. Управление гибридное: город контролирует, частные спонсоры вкладываются в инфраструктуру.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+ 3 млн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94560" y="294436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посетителей за первое лето и первую зиму после перезапуска. Для сравнения: за весь 2010 год продали 3,7 млн билетов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 тыс.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94560" y="351129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человек в парке в пиковые выходные и праздники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94560" y="40782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сделал из мёртвого сезона второй пик посещаемости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Формула переносится без переделок: убрать барьеры, задать стандарт, насытить расписанием. А каток Горького: прямой прототип зимней активации нашего Т3.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Парк Горького: главная аллея летом, событийная программа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каток Парка Горького, зимний якорь трафика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МЕТОД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и Power of 10+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9893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665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СОЗДАНИЯ МЕСТ · PROJECT FOR PUBLIC SPACES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32688" y="2560320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 — эксперт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2688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Создавайте место, а не дизайн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53312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одиночку не получится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53312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Многое видно из наблюдения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32688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Имейте видение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2688" y="516636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66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3312" y="50932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Начинайте с петуний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85616" y="256032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Триангулируйте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85616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85616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06240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«Это невозможно» не аргумент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85616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0624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Форма следует за функцией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785616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85616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Деньги не главная проблема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785616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85616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06240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Работа никогда не закончена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2688" y="55778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№6 — наш LQC-подход к CAPEX; №7 расставляет киоски и скамейки так, чтобы люди сталкивались.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12864" y="1828800"/>
            <a:ext cx="4638751" cy="2331720"/>
          </a:xfrm>
          <a:prstGeom prst="roundRect">
            <a:avLst>
              <a:gd name="adj" fmla="val 54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205472" y="2057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10+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05472" y="2359152"/>
            <a:ext cx="4069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места должно быть не меньше десяти причин прийти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05472" y="30358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сесть, где играть, что потрогать, что послушать, что съесть, что узнать, кого встретить. И ещё три причины вашего двора.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05472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Считается и выше: 10 причин в месте, 10 мест в районе.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12864" y="4315968"/>
            <a:ext cx="4638751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205472" y="4526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ПРИМЕНЕНИЕ В ПИЛОТЕ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205472" y="4828032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 идёт в техзадание каждого объекта. Не «зона отдыха», а десять проверяемых причин прийти. Аудит по чек-листу дважды в год, вместе с замерами трафика.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партнёра свой интерес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Партнёрство живёт, пока партнёр решает свою задачу. На «идём навстречу» хватает ровно одного сезона.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Локальный бизнес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Спонсирует форматы и арендует НТО. Взамен получает трафик и видимость у своей аудитории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Школы и детсады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дневную программу на площадке, получают безопасную учебную среду. Родители становятся ядром сообщества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7707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275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Назначает группы ходьбы и активности в парке: 85% пациентов соглашаются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НКО и энтузиасты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бесплатную регулярную программу, получают площадку и доступ к аудитории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943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Акимат / УООСиП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и сервисные контракты: инфраструктура в рассрочку, качество без нагрузки на штат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275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7707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проката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0275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Кикшеринг, прокат и вендинг по rev-share: точки у готового трафика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ИНСТРУМЕНТАРИЙ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 механики в одном конструкторе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Программу объекта не придумываем с нуля, а собираем из каталога. По каждой механике в исследовании: что это, что нужно, чей прототип и что мерить.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402336" cy="40233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08176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Вход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Первое касание: соседский обед, welcome-пакет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10712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2706624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78808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66744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Ритм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66744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Еженедельные форматы: забег, садоводство, ярмарка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81344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706624"/>
            <a:ext cx="402336" cy="402336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37376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Люди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37376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Амбассадоры, лестница вовлечения, школа лидеров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51976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270662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20072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208008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Ресурсы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08008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Микрогранты, партиципаторный бюджет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462272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08176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96112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Переносная мебель, триангуляция, LQC-пилоты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10712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66744" y="4462272"/>
            <a:ext cx="402336" cy="402336"/>
          </a:xfrm>
          <a:prstGeom prst="ellipse">
            <a:avLst/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66744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78808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66744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666744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Поликлиника, школы, микробизнес, город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81344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37376" y="446227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37376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37376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Цифра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37376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Календарь, чаты, геймификация, замеры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951976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208008" y="4480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каталог — в исследовании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08008" y="508406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групп B, E и F собирается программа сезона-1 каждого пилотного объекта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ИСХОДНАЯ СИТУАЦИЯ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 нас на руках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0756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Обслуживает BI Green, не передан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 объектов · 22 161 м²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97880" y="1965960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контроль. Основной пул пилота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4495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29.07–03.08.2026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08760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24 240 м²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862072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Кому именно переданы, выяснит юраудит; дальше только через контракт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4106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8679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передан и не обслуживается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4169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13 099 м²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3758184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Ничей актив стареет прямо у наших подъездов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54296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837176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08760" y="4764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городу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508760" y="5065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34 620 м²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4654296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Кандидаты на ГЧП / сервисный контракт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66928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Самое срочное — группа C.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13 099 м² не обслуживает никто. Газоны и малые формы стареют на глазах у жителей семи наших комплексов.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Чего хотим от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Договорились на берегу: пилот удался, если территория окупает своё содержание, а жители начинают чаще рекомендовать свой двор. Оба условия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D8A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ФИНАНСОВАЯ ЦЕЛЬ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32688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 окупает своё содержание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Прибыли не требуем. Содержание оплачивают трафик, арендаторы, спонсоры и город. Жители не платят ничего.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СТРАТЕГИЧЕСКАЯ ЦЕЛЬ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28816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NPS жителей и ценность м²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Живой двор продаёт квартиры и удерживает жильцов. Замеряем разрыв NPS между участниками и остальными, плюс премию к цене у активных территорий.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5138928"/>
            <a:ext cx="10911535" cy="777240"/>
          </a:xfrm>
          <a:prstGeom prst="roundRect">
            <a:avLst>
              <a:gd name="adj" fmla="val 16471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3892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«Лига Добрососедства» уже в деле: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соседские форматы и волонтёры BIG Life создают регулярный трафик почти бесплатно. Этот трафик и монетизируют кофе-точка, ярмарка и спонсоры.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7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ОГРАНИЧЕНИЕ №1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Пять зимних месяцев решают всё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Зимой трафик проседает на 70–90%. Расходы при этом никуда не деваются: на место полива и покоса приходит снегоуборка. Кривая иллюстративная, откалибруем её замерами нулевого спринта.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487168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Трафик в % от пикового месяца. Тёплый сезон приносит около 80% годовых посещений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955280" y="2487168"/>
            <a:ext cx="3596335" cy="3566160"/>
          </a:xfrm>
          <a:prstGeom prst="roundRect">
            <a:avLst>
              <a:gd name="adj" fmla="val 35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47888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ПРАВИЛА МОДЕЛИ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47888" y="30906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1. Считаем только помесячно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47888" y="3401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Годовое среднее прячет убыток пяти зимних месяцев. Поэтому отдельные кривые: для трафика и для каждой статьи OPEX.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4788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2. Зимой активен только Т3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47888" y="4572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Каток, горка и свет окупаются на плейхабах. Аллеи зимуют в режиме «чисто и безопасно» с минимальным OPEX.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14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5" name="Image 0" descr="assets/big-lif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типа, три модели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Зарабатывает не квадратный метр. Зарабатывает трафик, а трафик делает программа. Поэтому у каждого типа своё меню: сначала активности, потом коммерция.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Транзитная аллея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1 000 м² · 6 объектов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Чистая освещённая связка. Поодиночке такие не окупаются нигде в мире; работают только кластером под одной командой.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Вендинг · спонсорство · навигация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99432" y="2633472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Активная аллея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9943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1 000–7 000 м² · 24 объекта · ядро портфеля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9943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Районная ось. Один коммерческий якорь, еженедельный ритм событий, 6–8 ярмарок за сезон.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НТО-аренда · ярмарки · секции · реклама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943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573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633472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275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/ сквер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0275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функции: Аква 1, Авеню 5, Сезым, парк ЗК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275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Событийное ядро микрорайона. Единственный тип, который живёт круглый год: летом фестивали, зимой каток.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0275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+ события + каток зимой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0275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чём зарабатывает территория</a:t>
            </a:r>
            <a:endParaRPr lang="en-US" sz="3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85800"/>
                <a:gridCol w="685800"/>
                <a:gridCol w="685800"/>
                <a:gridCol w="565099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Инструмент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Комментарий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Единственная «коммерция» микро-аллей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 (adopt-a-*)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Локальный бизнес, годовые пакеты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и digital-экраны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Зависит от юрстатуса земли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НТО-аренда: фикс + % с оборота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Якорь Т2; павильон строит арендатор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Ярмарки: сбор с продавца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Заодно инкубатор микробизнеса жителей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платных секций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Тренер платит за слот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Кикшеринг и прокат: rev-share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операторов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 площадки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Частные и корпоративные события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Зимняя активация: каток, прокат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Отдельный инвесткейс, решаем после сезона-1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/ нейминг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на 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железных правила.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каждом договоре с оператором квота бесплатных часов для жителей: урок японского Park-PFI. И платят коммерсанты, спонсоры и город. Не жители.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ТРАНЗИТНАЯ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 в цифрах: Flora 1 + 2, кластер 676 м²</a:t>
            </a:r>
            <a:endParaRPr lang="en-US" sz="3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Вендинг, 1–2 автомата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точки 25–45 тыс тг/мес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«Усынови клумбу»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3–5 спонсоров по 80–150 тыс тг/год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на навигации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0–0,4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0,5–1,5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2 722 м² общей (обмер) по 60–90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2,0–2,9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0,4–0,8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Освещение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площади, длинная зимняя ночь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0,4–0,7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1/5 ставки на пару объектов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в год от 72 млн тг активов кластера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4,3–6,6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Обмер удвоил уборочную площадь: середина вилок ~18%. Кластер работает, но потолок Т1 стал честнее.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Кластер: общий координатор и бригада, не своя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Спонсоры продлеваются на второй год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пропускает рекламу на стелах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АКТИВНАЯ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 в цифрах: Хедлайнер Эксклюзив, 4 000 м²</a:t>
            </a:r>
            <a:endParaRPr lang="en-US" sz="3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НТО-якорь: кофе-павильон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120–250 тыс тг/мес + 2–5%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1,8–3,6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Ярмарка выходного дня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12–16 ярмарок, 15–25 мест по 3–5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Секции и кикшеринг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тренерам + rev-share операторов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Digital-экран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воркаут, клумбы, скамейки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4,4–10,2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4 100 м² общей (обмер) по 30–55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1,5–2,7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1,1–2,0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 и электро для НТО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 площадь + событийные подключения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20–30 событий по 95–130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1,9–3,9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1/3 ставки на объект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1,2–1,6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CAPEX активации до справки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6,2–11,3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Обмер сжал общую площадь вдвое: середина вилок ~84%, выше коридора. Аллея почти целиком зелёная.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Якорь-павильон заполнен с мая по сентябрь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Ярмарка стала привычкой района: 12+ за сезон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Вечерние слоты секций выкуплены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ПЛЕЙХАБ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 в цифрах: Сквер Авеню 5, 1 700 м²</a:t>
            </a:r>
            <a:endParaRPr lang="en-US" sz="3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Две НТО-точки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кофе и выпечка: аренда + 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Каток: прокат и билеты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компактный контур, 120–160 дней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10–18 частных и корпоративных событий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1,0–2,8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Ярмарки, маркеты, секции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круглогодичный календарь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1,3–2,6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+ экран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7,7–17,4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3 114 м² общей (обмер) по 60–100 тг/м²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2,2–3,7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Свет, электро, Wi-Fi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 + архитектурная подсветка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Зимний пакет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заливка, уход за льдом, персонал проката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2,5–4,5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30–45 событий в 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2,8–5,9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и событийщик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доли двух ставок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2,2–3,0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активов (2,1 млн) + CAPEX активации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11,4–21,0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~77%. Каток и спонсор года раскручиваются ко второму-третьему году.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 отработал первую зиму без простоев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Заявок на события больше, чем слотов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 года подписан до старта сезона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МЕХАНИЗМ 4 · ДЛЯ ПЕРЕДАННЫХ ГОРОДУ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мы уже пробуем: Sphere Park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7 га с озером 2 га у школы BINOM, рядом бигвилль Capital Park. Механизм «частная инициатива», модель BTO: строим сами, передаём государству, пять лет эксплуатируем за компенсацию.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ГЧП-контракт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2688336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4096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54096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Финансирование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100% частное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901184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6944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66944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Строительство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год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114032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78624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9792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79792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Передача на баланс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9326880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1472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0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Эксплуатация 5 лет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компенсации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~2,2 млрд тг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9611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вкладывает частный партнёр; бюджет МИО компенсирует в 2026–2031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4340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~0,33 млрд тг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9943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компенсация эксплуатации за 5 лет: городской бенчмарк базового содержания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4672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0275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софинансирование государства на старте: стройку целиком ведёт партнёр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5285232"/>
            <a:ext cx="10911535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8523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даёт портфелю.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Возврат доходности на 34 620 м², уже переданных городу: крупные объекты через ГЧП при реконструкции, мелкие через сервисный контракт силами BI Green. Городу качество у витринных ЖК, нам возврат вложений.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Достраиваем, а не строим заново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 LQC: lighter, quicker, cheaper. Поверх готового благоустройства достраиваем слой, который приносит деньги и события. Тяжёлые инвестиции идут только после проверки спроса.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Проектирование и юраудит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2487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96896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169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Электрика и свет (точки НТО, подсветка)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29169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3026664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Покрытия, МАФ, навигация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1208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20–30%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456432"/>
            <a:ext cx="109728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76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Коммерческая инфраструктура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2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10–15%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Активити: детская, воркаут, сцена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15–25%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360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и полив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12080" y="4636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8–12%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4745736"/>
            <a:ext cx="438912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6577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Digital: счётчики, Wi-Fi, экран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12080" y="50657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5175504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4955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Резерв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12080" y="5495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605272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0" y="2487168"/>
            <a:ext cx="3322015" cy="2743200"/>
          </a:xfrm>
          <a:prstGeom prst="roundRect">
            <a:avLst>
              <a:gd name="adj" fmla="val 4667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50392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ОРИЕНТИР БЮДЖЕТА АКТИВАЦИИ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89720" y="30358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3–8 млн тг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36027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9720" y="36027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15–40 млн тг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41696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89720" y="4169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40–120 млн тг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681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Это порядки для планирования, не сметы. Верх Т3 включает зимний пакет. Павильоны строят арендаторы.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Сметы появятся из проектирования в октябре-ноябре, после юраудита и выбора объектов.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ШОРТ-ЛИСТ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Девять объектов в шорт-листе, три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— из реестра, общая площадь — обмер по спутнику от 18.08.2026; у Nexpo Юнион — оценка по аналогу. Состав пилота утверждён после объезда территорий.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548640"/>
                <a:gridCol w="566928"/>
                <a:gridCol w="1645920"/>
                <a:gridCol w="1719072"/>
                <a:gridCol w="2039112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Тип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Гр.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Упр.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Общая, м² (факт)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Роль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контур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4 100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1 512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1 210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1 415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·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3 114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 · кандидат Т3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10 805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2 843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C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~4 200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Резерв; не обслуживается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Итого: 9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Т1 · 5 Т2 · 1 Т3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~36 258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АКТИВЫ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уже стоит на этих аллеях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Справки застройщиков: на восьми объектах шорт-листа активы на ~0,5 млрд тг, плотностью до 43 тыс тг на м². Пилот получает не пустыри, а работающую инфраструктуру — её надо содержать и не дать ей тихо самортизироваться.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600200"/>
                <a:gridCol w="1188720"/>
                <a:gridCol w="53309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Площади,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Активы, млн тг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на балансе (по справке)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/ 3 114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только озеленение: 458 растений. Света, МАФов и покрытий на балансе нет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/ 4 100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справка запрошена у застройщика, внесём после нулевого спринта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 / 1 512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1 696 растений, 10 скамеек, 20 фонарей, гирлянда 300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 / 1 210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1 121 растение, 8 скамеек, 20 фонарей, гирлянда 480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 / 10 805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135,4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детское ядро: две горки, батут, карусель; автополив; земля 0,37 га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 / 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129,1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покрытия ~5 200 м², десять игровых комплексов, 27 скамеек, 23 опоры света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 / ~4 200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73,4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комплекс со скалодромом за 42 млн, воркаут, теннис, 54 светильника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 / 1 415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60,3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 2 000 м², 2 268 растений, 11 скамеек, гирлянда 250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 / 2 843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31,8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мини-поле с искусственной травой, баскетбол, воркаут-серия, канатный лаз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 по восьми справкам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 / ~36 258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504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 в финмоделях: 1–1,5% стоимости активов и новых вложений в 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после объезда: два контура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Рабочая группа проехала по аллеям и выбрала не три одиночных объекта, а крупную активную аллею плюс кластер из четырёх соседних. Все пять — группа A, обслуживает BI Green.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5321808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303580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Гранд Туран Комфорт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36499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2 300 м² озеленения · 7 059 м² общей · Управление 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Самая насыщенная аллея портфеля: активы на 129 млн тг — покрытия ~5 200 м², десять игровых комплексов, 27 скамеек. Модель активной аллеи: якорь, ярмарки, секции.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36208" y="2395728"/>
            <a:ext cx="5321808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2633472"/>
            <a:ext cx="960120" cy="310896"/>
          </a:xfrm>
          <a:prstGeom prst="roundRect">
            <a:avLst>
              <a:gd name="adj" fmla="val 26471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63347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92240" y="303580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Хедлайнер + Flora 1 + Flora 2 + Аура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92240" y="336499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5 476 м² озеленения · 8 237 м² общей · Управление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92240" y="36758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Четыре аллеи под одной командой: один координатор на 0,93 ставки, общий календарь и бригада. Активы 132+ млн тг; справка по Хедлайнеру в пути.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60120" y="5193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СПРИНТ: СТАРТУЕМ В СЕНТЯБРЕ, БЕЗ CAPEX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60120" y="5486400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Гранд Туран: три-четыре события из календаря Лиги, временная кофе-точка, счётчики трафика и замер NPS. К декабрю у финмоделей будут собственные факты вместо чужих бенчмарков.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СПУТНИК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периметр на снимке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Контуры обмера Google Earth, съёмка июля 2026. Жёлтая линия — граница территории: по ней посчитаны общая площадь, уборка и свет.</a:t>
            </a:r>
            <a:endParaRPr lang="en-US" sz="1400" dirty="0"/>
          </a:p>
        </p:txBody>
      </p:sp>
      <p:pic>
        <p:nvPicPr>
          <p:cNvPr id="5" name="Image 0" descr="assets/sat-grandtur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86000"/>
            <a:ext cx="2194560" cy="2377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365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Гранд Туран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  ·  обмер 7 059 м²</a:t>
            </a:r>
            <a:endParaRPr lang="en-US" sz="1000" dirty="0"/>
          </a:p>
        </p:txBody>
      </p:sp>
      <p:pic>
        <p:nvPicPr>
          <p:cNvPr id="7" name="Image 1" descr="assets/sat-headli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956" y="2286000"/>
            <a:ext cx="2039112" cy="23774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076956" y="4736592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Хедлайнер Эксклюзив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  ·  4 100 м²</a:t>
            </a:r>
            <a:endParaRPr lang="en-US" sz="1000" dirty="0"/>
          </a:p>
        </p:txBody>
      </p:sp>
      <p:pic>
        <p:nvPicPr>
          <p:cNvPr id="9" name="Image 2" descr="assets/sat-clus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84" y="2286000"/>
            <a:ext cx="6190488" cy="23774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358384" y="4736592"/>
            <a:ext cx="61904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Аура + Flora 1 + Flora 2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  ·  1 415 + 1 513 + 1 210 м², с Хедлайнером — кластер 8 237 м²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 — четыре аллеи двух соседних улиц под одной командой. Nexpo Юнион (резерв) в съёмку не попал: в модели оценка ~4 200 м² до замера.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25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4" name="Image 3" descr="assets/big-life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ЭКОНОМИКА · СОДЕРЖАНИЕ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Бюджет содержания: 18–29 млн тг в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Содержание as-is по нормативам: уборка и свет от обмеренной площади, озеленение от зелёной, ремфонд от активов, координация долями ставок. Формулы — в Excel, лист «Бюджет пилота».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74066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548640"/>
                <a:gridCol w="1097280"/>
                <a:gridCol w="201168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Тип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Содержание, 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4,9–8,5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4 100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2,9–5,1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1 512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2,0–3,0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1 210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1,6–2,4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1 415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2,3–3,7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 (0,93 ставки на четыре аллеи)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3,3–4,7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Гранд Турана (0,33 ставки)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1,2–1,7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Кластер, итого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8 237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12,1–19,0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Гранд Туран, итого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7 059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6,1–10,2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Пилот: содержание, итого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15 296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18,2–29,2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2331720"/>
            <a:ext cx="3322015" cy="1737360"/>
          </a:xfrm>
          <a:prstGeom prst="roundRect">
            <a:avLst>
              <a:gd name="adj" fmla="val 7368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85632" y="2496312"/>
            <a:ext cx="2809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ВНУТРИ СТАВКИ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485632" y="2761488"/>
            <a:ext cx="280995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Уборка и снегоуборка круглый год, уход за насаждениями и полив апрель–октябрь, свет и электроэнергия, ремфонд 1–1,5% от стоимости активов, координация.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229600" y="4224528"/>
            <a:ext cx="3322015" cy="1371600"/>
          </a:xfrm>
          <a:prstGeom prst="roundRect">
            <a:avLst>
              <a:gd name="adj" fmla="val 6667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0" y="4224528"/>
            <a:ext cx="29562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входит: программа активации — 3,8–7,8 млн тг на два контура по нормативу событий. Ремфонд Хедлайнера пока 0: ждём справку о балансовой стоимости.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26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ДОРОЖНАЯ КАРТА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шага до запуска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рабочей группы после объезда: юраудит, бюджет содержания, операторы зимы. Каждому шагу — свой владелец и дедлайн.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42900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96112" y="29626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Юридический аудит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96112" y="32552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сентябрь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14400" y="3703320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118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пяти территорий: чья, какой режим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914400" y="4361688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270248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можно сдавать: НТО, аренда, реклама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14400" y="5020056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4928616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Mobile food и летние площадки: схема размещения, СанПиН, правила благоустройства Астаны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43400" y="2286000"/>
            <a:ext cx="342900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99432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99432" y="29626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Бюджет содержания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99432" y="32552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готов к защите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3703320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6118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18–29 млн тг в год на весь периметр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0" y="4361688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270248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Лист «Бюджет пилота» в Excel-модели: формулы от нормативов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17720" y="5020056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4928616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с Управлениями 2 и 4, ставки сверить с фактом BI Green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46720" y="2286000"/>
            <a:ext cx="342900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02752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8302752" y="29626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зимы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302752" y="32552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321040" y="3703320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361188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Встречи с арендаторами: кофе, ярмарки, секции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321040" y="4361688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03920" y="4270248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Катки и зимние парки: короткий список операторов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321040" y="5020056"/>
            <a:ext cx="82296" cy="822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0" y="4928616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Условия сделки: аренда + процент оборота, квоты бесплатных часов жителям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27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7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ИЗМЕРЕНИЕ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Как поймём, что получилось</a:t>
            </a:r>
            <a:endParaRPr lang="en-US" sz="3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Контур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Метрика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Цель 12 мес.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Покрытие OPEX доходами по типам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Т1: 10–30% · Т2: 40–70% · Т3: 70%+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OPEX/м² лето и зима, эффект кластера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Снижение OPEX/м² на кластерных объектах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Посещений в день (счётчики + public life замеры)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×2 к базлайну нулевого спринта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Заявки на событийные слоты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Заявок больше, чем слотов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NPS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Разрыв NPS: участвует / не участвует в активностях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+15 пунктов и больше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Сообщество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Регулярные форматы без пропусков; доля событий от жителей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2+ формата на объект; 30%+ событий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Ценность м²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Премия аренды/цены у активированных территорий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Фиксация тренда (горизонт 24+ мес.)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 трафика и NPS снимаем в сентябре, до активации. Иначе через год эффект будет не с чем сравнивать.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ШАГ 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Сначала юраудит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решает, чем на ней можно зарабатывать. А статусы у нас пёстрые, поэтому до CAPEX проверяем все 31: заодно выясним, кому ушли семь объектов в июле-августе.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70632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87168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Земля BI / дочерних структур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0" y="2487168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монетизации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2487168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компании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849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6616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Общедолевая собственность жителей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НТО, реклама, события с согласия ОСИ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566160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Revenue-share: часть дохода уходит в бюджет двора, что работает и на NPS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645152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928616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464515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Городская земля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464515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ГЧП, сервисный контракт, согласованные НТО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4645152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 с акиматом или УООСиП; прецедент Sphere Park уже есть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аудит не остановит: спонсорство, события и вендинг работают почти при любом статусе. Меняется состав меню, не сама идея.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 до осени 2027 года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52144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 31 объекта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557016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на Аква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123944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Базлайны: трафик, NPS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Факт OPEX от BI Green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255264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66744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Окт–Ноя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85032" y="2990088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Финализация 3 объектов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85032" y="3557016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22776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Концепт-дизайн LQC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5032" y="4123944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2776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Excel-финмодели на фактах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85032" y="4690872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2776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Переговоры с операторами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6025896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37376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Дек–Мар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55664" y="2990088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Утверждение CAPEX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55664" y="3557016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Договоры с арендаторами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55664" y="4123944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через Лигу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55664" y="4690872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Монтаж с марта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 rot="5400000">
            <a:off x="8796528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51976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08008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08008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Апр–Окт 2027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26296" y="2990088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4040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Запуск сезона-1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26296" y="3557016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0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Помесячные замеры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26296" y="4123944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64040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Октябрь: факт vs модель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226296" y="4690872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Go/no-go тиражирования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22581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53212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 ноября 2027-го: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зимний пакет Т3, если сезон подтвердил трафик, и подготовка ГЧП с сервисными контрактами по группе 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5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это ломалось у других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Коммерция вытесняет жителей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Квота бесплатных часов и зон в каждом договоре с оператором. Урок японского Park-PFI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 «об жителей» бьёт по NPS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Платят коммерсанты, спонсоры и город. Жителям остаётся бесплатное ядро программы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съедает экономику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модель, зимний минимум на Т1 и Т2, зимняя активация только на Т3 и только после проверки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Микрообъекты убыточны всегда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Только кластерное управление: одна команда на 3–5 объектов. Поштучно Т1 не активируем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Выгорание событийной команды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плюс оплачиваемый координатор: это несущая конструкция, не накладные расходы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блокирует коммерцию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Аудит до CAPEX. Спонсорство и события работают почти при любом статусе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7160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ПРОСИМ ПЯТЬ РЕШЕНИЙ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17320" y="1874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Одобрить пилот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41732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объекта (Т1 + Т2 + Т3), горизонт 12 месяцев, двойная цель: покрытие OPEX + NPS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7157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27157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Санкционировать юраудит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417320" y="3081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 территория в сентябре: статусы земли и адресаты передач июля-августа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55701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17320" y="355701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нулевой спринт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417320" y="3922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1, сентябрь–октябрь, в рамках текущих бюджетов мероприятий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39826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4398264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Поручить передать факт OPEX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417320" y="4764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Green / BI Service: 2024–2026 по группе A, по статьям, лето/зима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523951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52395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Рассмотреть CAPEX в декабре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417320" y="5605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базе Excel-финмоделей, откалиброванных данными нулевого спринта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63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Концепция: docs/research/park-pilot-concept.md · Исследование мировых практик: park-community-management.md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BI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Пилот: парки и аллеи BI</dc:title>
  <dc:subject>PptxGenJS Presentation</dc:subject>
  <dc:creator>BI Service</dc:creator>
  <cp:lastModifiedBy>BI Service</cp:lastModifiedBy>
  <cp:revision>1</cp:revision>
  <dcterms:created xsi:type="dcterms:W3CDTF">2026-08-24T11:01:31Z</dcterms:created>
  <dcterms:modified xsi:type="dcterms:W3CDTF">2026-08-24T11:01:32Z</dcterms:modified>
</cp:coreProperties>
</file>