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Трафик, % от пикового месяца</c:v>
                </c:pt>
              </c:strCache>
            </c:strRef>
          </c:tx>
          <c:spPr>
            <a:solidFill>
              <a:srgbClr val="009FE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8A93A6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Янв</c:v>
                  </c:pt>
                  <c:pt idx="1">
                    <c:v>Фев</c:v>
                  </c:pt>
                  <c:pt idx="2">
                    <c:v>Мар</c:v>
                  </c:pt>
                  <c:pt idx="3">
                    <c:v>Апр</c:v>
                  </c:pt>
                  <c:pt idx="4">
                    <c:v>Май</c:v>
                  </c:pt>
                  <c:pt idx="5">
                    <c:v>Июн</c:v>
                  </c:pt>
                  <c:pt idx="6">
                    <c:v>Июл</c:v>
                  </c:pt>
                  <c:pt idx="7">
                    <c:v>Авг</c:v>
                  </c:pt>
                  <c:pt idx="8">
                    <c:v>Сен</c:v>
                  </c:pt>
                  <c:pt idx="9">
                    <c:v>Окт</c:v>
                  </c:pt>
                  <c:pt idx="10">
                    <c:v>Ноя</c:v>
                  </c:pt>
                  <c:pt idx="11">
                    <c:v>Дек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12</c:v>
                </c:pt>
                <c:pt idx="2">
                  <c:v>18</c:v>
                </c:pt>
                <c:pt idx="3">
                  <c:v>45</c:v>
                </c:pt>
                <c:pt idx="4">
                  <c:v>85</c:v>
                </c:pt>
                <c:pt idx="5">
                  <c:v>100</c:v>
                </c:pt>
                <c:pt idx="6">
                  <c:v>100</c:v>
                </c:pt>
                <c:pt idx="7">
                  <c:v>95</c:v>
                </c:pt>
                <c:pt idx="8">
                  <c:v>75</c:v>
                </c:pt>
                <c:pt idx="9">
                  <c:v>45</c:v>
                </c:pt>
                <c:pt idx="10">
                  <c:v>15</c:v>
                </c:pt>
                <c:pt idx="11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8A93A6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468"/>
                </a:solidFill>
                <a:latin typeface="Gotha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9525" cap="flat">
              <a:solidFill>
                <a:srgbClr val="E2E8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468"/>
                </a:solidFill>
                <a:latin typeface="Gotham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 этого начинаем: у нас 9,4 га общественных пространств, и сегодня это чистый расход. За 12 месяцев проверим три модели, которые превращают их в управляемый актив.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Опорный тезис презентации: вкладываемся в инфраструктуру связей между жителями, а не в газоны. Из него растёт двойная цель пилота.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Слои читаются снизу вверх по стоимости и сверху вниз по ценности. Бюджеты благоустройства обычно устроены ровно наоборот; пилот это исправляет.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цифра привязана к источнику. ×3: синтез по 11 крупнейшим городам США. 85%: семь пилотных территорий NHS England.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Полная матрица выбора модели лежит в исследовании. Мысль слайда простая: ничего не изобретаем, комбинируем три проверенные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85% по данным PPS, показатель исторический: абсолютные суммы с тех пор кратно выросли. Фото вставить перед защитой, слоты размечены.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Прямая связка со слайдом ГЧП: Sphere Park и есть казахстанская версия этого обмена.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Нижний фото-слот оставлен под наш контент: события Лиги уже дают фотоматериал.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Самый близкий нам кейс: постсоветский парк, настоящая зима, кратный рост трафика за один сезон.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Принципы уже в деле: №6 зашит в CAPEX-подход, №7 в расстановку НТО и скамеек, №10 в ставку на вовлечённость вместо большого бюджета.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карточка описывает сделку, а не список желаний. Полная таблица форматов лежит в исследовании.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Мостик к пилотной части: дальше смотрим, как инструментарий ложится на наш портфель из 31 территории.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Суть слайда: перед нами 9,4 га витрины наших ЖК в четырёх разных управленческих режимах.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Трафик здесь общая валюта: он двигает и выручку операторов, и NPS.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Профиль кривой иллюстративный, откалибруем счётчиками нулевого спринта. Форма не изменится: пять тёплых месяцев дают почти весь трафик.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Проценты пока гипотезы, а не обещания. Пилот и существует ради того, чтобы заменить их фактом.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Точка означает основной инструмент, «опц.» опциональный. Меню гибкое: спонсорство и события работают почти при любом юрстатусе земли.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Две Flora считаются одним объектом: команда, календарь и вендинг общие. Середина вилок даёт ~25% покрытия — середина коридора: ремфонд теперь честно несёт 72 млн тг активов на балансе кластера.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Хедлайнер Эксклюзив: 2023 год, свежая инфраструктура. Ядро модели: якорь и ярмарка; реклама и экран зависят от юрстатуса. Справки о балансовой стоимости пока нет — до неё ремфонд считаем от CAPEX активации.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Единственный тип с шансом выйти в плюс. Ключевая ставка: зима. Каток Горького делал второй пик; проверяем то же на Авеню 5, здесь же нулевой спринт. На балансе сквера только зелень на 2,1 млн тг: свет, МАФы и сцену создаёт пилот — отсюда CAPEX-вилка 40–120 млн.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группа D, 34 620 м². Механизму не нужна наша земля: город платит за качество содержания и инфраструктуру в рассрочку.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Обратите внимание на строку коммерческой инфраструктуры: мы готовим место и сети, павильон строит арендатор. Наш CAPEX ниже, его вовлечённость выше.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Шорт-лист из рабочей таблицы от 08.08.2026, разметка типов сохранена. Пилоты: Авеню 5, Хедлайнер Эксклюзив и объединённые Flora 1+2 — кластер из двух микро-аллей, прямая проверка кластерной экономики Т1.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Суммы из справок ТОО-застройщиков, август 2026. Nexpo Классик включает землю за 57 млн тг. Гранд Туран: спецификация материалов без НДС. Полная разбивка по категориям — в Excel-модели, лист «Активы».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Тройка утверждена рабочей группой. Нулевой спринт стартует на пилотном Т3 — Сквере Авеню 5, без CAPEX, в рамках текущих бюджетов.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Метрика «заявок больше, чем слотов» взята у Брайант-парка: спрос на площадку выше предложения. Целевое состояние для Т3.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Revenue-share с ОСИ: сильный ход. Двор видит возврат денег от коммерции на своей территории, а это прямой вклад в NPS-цель.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Критический путь: юраудит и факт OPEX в сентябре. Без них финмодели в ноябре останутся на бенчмарках.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риск взят из задокументированного провала конкретной мировой программы; полный разбор в исследовании.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 одно из решений 1-4 не требует CAPEX. Деньги просим только в декабре, уже на основе фактических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66928"/>
            <a:ext cx="1554480" cy="5760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084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ПИЛОТНЫЙ ПРОЕКТ · К ЗАЩИТЕ · АВГУСТ 2026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640080" y="2487168"/>
            <a:ext cx="10424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3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Парки, которые содержат</a:t>
            </a:r>
            <a:endParaRPr lang="en-US" sz="35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себя сами</a:t>
            </a:r>
            <a:endParaRPr lang="en-US" sz="3500" dirty="0"/>
          </a:p>
        </p:txBody>
      </p:sp>
      <p:sp>
        <p:nvSpPr>
          <p:cNvPr id="5" name="Text 2"/>
          <p:cNvSpPr/>
          <p:nvPr/>
        </p:nvSpPr>
        <p:spPr>
          <a:xfrm>
            <a:off x="640080" y="420624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 на трёх территориях BI: модели, монетизация, структура CAPEX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31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территория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портфеле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78892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94 120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278892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м² озеленения; общая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площадь вдвое больше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93776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9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493776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объектов в шорт-листе,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из них 3 пилота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08660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12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08660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месяцев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горизонт пилота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ЗАЧЕМ ЭТО РАБОТАЕТ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9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 — это не территория,</a:t>
            </a:r>
            <a:endParaRPr lang="en-US" sz="3000" dirty="0"/>
          </a:p>
          <a:p>
            <a:pPr indent="0" marL="0">
              <a:lnSpc>
                <a:spcPts val="339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 социальная инфраструктура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5760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Пятнадцать лет назад парки числились по ведомству благоустройства. Сегодня города считают их инфраструктурой связей: местом, где жители становятся соседями.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3364992"/>
            <a:ext cx="5760720" cy="1243584"/>
          </a:xfrm>
          <a:prstGeom prst="roundRect">
            <a:avLst>
              <a:gd name="adj" fmla="val 1029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351129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Эрик Клиненберг · social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3794760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Библиотеки, школы, площадки, парки решают, появятся ли связи между людьми вообще. От их качества зависит устойчивость района к любым кризисам.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4700016"/>
            <a:ext cx="5760720" cy="1243584"/>
          </a:xfrm>
          <a:prstGeom prst="roundRect">
            <a:avLst>
              <a:gd name="adj" fmla="val 1029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48463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Рэй Олденбург · «третье место»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32688" y="5129784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Есть дом, есть работа. А третье место, где встречаются без повода и по-соседски, ещё надо построить. Без него связи не заводятся.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58000" y="2304288"/>
            <a:ext cx="4690872" cy="3675888"/>
          </a:xfrm>
          <a:prstGeom prst="roundRect">
            <a:avLst>
              <a:gd name="adj" fmla="val 3483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78040" y="26060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ЭТО ЗНАЧИТ ДЛЯ ДЕВЕЛОПЕРА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178040" y="297180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Двор — это фабрика сообщества.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178040" y="42976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Не программируешь двор?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Он выпускает пустоту.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178040" y="504748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Исследования подтверждают: чем ближе социальная инфраструктура, тем выше сплочённость и субъективное благополучие жителей.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8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РАМКА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Три слоя одного двора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 каждого слоя свои люди и свои деньги. Привычная ошибка: вложиться в плитку и ждать, что сообщество заведётся само. Пилот работает во всех трёх слоях сразу.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50592"/>
            <a:ext cx="781812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688336"/>
            <a:ext cx="987552" cy="512064"/>
          </a:xfrm>
          <a:prstGeom prst="roundRect">
            <a:avLst>
              <a:gd name="adj" fmla="val 17857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688336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СЛОЙ 3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057400" y="2596896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Сообщество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2057400" y="292608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Кто здесь свои? Лидеры, волонтёры, соседские связи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172200" y="2615184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Дешевле всех. И дольше всех растёт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40080" y="3584448"/>
            <a:ext cx="781812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96112" y="3822192"/>
            <a:ext cx="987552" cy="512064"/>
          </a:xfrm>
          <a:prstGeom prst="roundRect">
            <a:avLst>
              <a:gd name="adj" fmla="val 17857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3822192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СЛОЙ 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057400" y="373075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Программа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2057400" y="4059936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здесь происходит по расписанию? События, кружки, ритуалы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72200" y="3749040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Средние деньги, быстрый эффект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0080" y="4718304"/>
            <a:ext cx="781812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96112" y="4956048"/>
            <a:ext cx="987552" cy="512064"/>
          </a:xfrm>
          <a:prstGeom prst="roundRect">
            <a:avLst>
              <a:gd name="adj" fmla="val 17857"/>
            </a:avLst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4956048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СЛОЙ 1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057400" y="486460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Пространство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2057400" y="5193792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здесь стоит? Скамейки, свет, покрытие, туалеты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72200" y="4882896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Дороже всех; без верхних слоёв эффект выдыхается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732520" y="2450592"/>
            <a:ext cx="2816352" cy="3383280"/>
          </a:xfrm>
          <a:prstGeom prst="roundRect">
            <a:avLst>
              <a:gd name="adj" fmla="val 4545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006840" y="27249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ПРИНЦИП PPS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006840" y="3072384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«Money Is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Not the Issue»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006840" y="40690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Вовлечённость сообщества снижает издержки эффективнее, чем большой капитальный бюджет.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006840" y="5212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Project for Public Spaces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0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РАМКА · ДАННЫЕ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говорят цифры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578608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22128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×3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96112" y="301752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Доллар, вложенный в парк, возвращает городу минимум три доллара в год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96112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Trust for Public Land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410712" y="1965960"/>
            <a:ext cx="2578608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66744" y="22128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71 %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66744" y="301752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Ходят в парк за движением. Ещё 61% снимают там стресс, 46% проводят время с семьёй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66744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Trust for Public Land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81344" y="1965960"/>
            <a:ext cx="2578608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37376" y="22128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300 м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437376" y="301752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Столько должно быть до зелёного пространства от 1 га. Дальше люди просто не доходят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37376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Европейское бюро ВОЗ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951976" y="1965960"/>
            <a:ext cx="2578608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08008" y="22128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E44A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85 %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208008" y="301752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Пациентов соглашаются, когда врач назначает активность в парке вместо таблетки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208008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NHS England, 7 пилотов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40080" y="4690872"/>
            <a:ext cx="10911535" cy="1234440"/>
          </a:xfrm>
          <a:prstGeom prst="roundRect">
            <a:avLst>
              <a:gd name="adj" fmla="val 1037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60120" y="48646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ПРАВИЛО 3–30–300 · НОРМАТИВ ЗЕЛЁНОЙ ДОСТУПНОСТИ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120" y="5193792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920240" y="5193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дерева видно из окна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069080" y="5193792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30 %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029200" y="5193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кроновое покрытие района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78040" y="5193792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300 м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138160" y="5193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 ближайшего зелёного пространства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60120" y="5687568"/>
            <a:ext cx="10241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Эти цифры пригодятся в разговорах с акиматом и партнёрами. Источники собраны в исследовании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7 МОДЕЛЕЙ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Семь способов быть хозяином парка</a:t>
            </a:r>
            <a:endParaRPr lang="en-US" sz="3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2286000"/>
                <a:gridCol w="2331720"/>
                <a:gridCol w="3227832"/>
              </a:tblGrid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Модель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Кто управляет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Откуда деньги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Что берём в пилот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· Муниципальный отдел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Город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Бюджет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Подотчётно, но событий мало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· Conservancy (Центральный парк)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НКО по договору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Филантропия, эндаумент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Договор с измеримым стандартом сервиса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 · BID (Брайант-парк)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НКО на сборе с собственников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Обязательный сбор, аренда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Самоокупаемость через плотную коммерцию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· Park-PFI (Япония)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Частный оператор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 коммерции в парке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Кафе в парке платит за парк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5 · Friends of (Сингапур, UK)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Город и жители вместе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Бюджет, волонтёры, гранты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Жители берут заботу на себя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 · Right to Challenge (NL)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Жители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Переданный бюджет функции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Маршрут передачи функций жителям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7 · Девелоперская (master assoc.)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УК и ассоциация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Взносы, сервисный сбор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Наша рамка: запускаем, растим, передаём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Модели 2, 4 и 5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разобраны на следующих слайдах: из них собран инструментарий пилота. Модель 7 наша по определению: девелопер запускает, растит и передаёт.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МОДЕЛЬ 2 ИЗ 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Центральный парк: город владеет, фонд управляет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Некоммерческий фонд ведёт парк по договору с городом. Земля остаётся городской, финальное слово за комиссаром по паркам, а в договоре прописан измеримый уровень сервиса.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80B9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~85 %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965960" y="2834640"/>
            <a:ext cx="4251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операционного бюджета парка приносит фонд: филантропия и эндаумент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80B9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Город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965960" y="3401568"/>
            <a:ext cx="4251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сохраняет собственность и верховную власть, поэтому обвинения в приватизации не клеятся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39684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80B9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965960" y="3968496"/>
            <a:ext cx="4251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фиксирует стандарты сервиса цифрами. Никакого «партнёрства вообще»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8172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берём в пилот.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Договорную дисциплину: у каждой территории паспорт стандарта и один человек, который отвечает за неё как за продукт. Целиком модель не скопировать: она живёт на крупных донорах.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5010912" cy="2606040"/>
          </a:xfrm>
          <a:prstGeom prst="roundRect">
            <a:avLst>
              <a:gd name="adj" fmla="val 421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2930652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Центральный парк: газон Sheep Meadow, вид на Манхэттен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4572000"/>
            <a:ext cx="5010912" cy="1298448"/>
          </a:xfrm>
          <a:prstGeom prst="roundRect">
            <a:avLst>
              <a:gd name="adj" fmla="val 845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766560" y="5020056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волонтёры Conservancy за уходом за парком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9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МОДЕЛЬ 4 ИЗ 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Япония: кафе в парке платит за парк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 2017 года японский город выбирает оператора парка на конкурсе. Оператор ставит кафе и магазины, а прибылью содержит всё некоммерческое: дорожки, площади, зелень.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944368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45 парков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103120" y="2944368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анализе применения. Бюджету легче, локальная экономика оживает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511296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 тренда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03120" y="3511296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подтверждены исследованиями. Главная беда: коммерция вытесняет активности сообществ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Наш ГЧП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03120" y="4078224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Sphere Park (BTO): та же логика обмена, переложенная на законодательство РК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FDF0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8172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C0631A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берём в пилот.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A542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Сам обмен «коммерция оплачивает содержание»: это ядро наших моделей Т2 и Т3. И главный урок: в каждый договор с оператором вписываем квоту бесплатных часов для жителей.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5010912" cy="2606040"/>
          </a:xfrm>
          <a:prstGeom prst="roundRect">
            <a:avLst>
              <a:gd name="adj" fmla="val 421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2930652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Miyashita Park в Токио, парк-платформа с коммерцией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4572000"/>
            <a:ext cx="5010912" cy="1298448"/>
          </a:xfrm>
          <a:prstGeom prst="roundRect">
            <a:avLst>
              <a:gd name="adj" fmla="val 845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766560" y="5020056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кафе-павильон в парке, финансирующий содержание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6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9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МОДЕЛЬ 5 ИЗ 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Сингапур: жители сами ухаживают за парками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Государство помогает жителям делом: методички, обучение, конкурсы, статус амбассадора, площадки обмена опытом. Взамен жители берут часть заботы о территории на себя.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2 000+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2103120" y="2834640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садоводческих групп в программе Community in Bloom (NParks, с 2005 года)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401568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48 000+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103120" y="3401568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участников всех возрастов; амбассадоры, конкурсы, методическая поддержка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3968496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Урок Nesta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103120" y="3968496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волонтёрским группам нужны обучение и координатор. Бесплатным этот ресурс не бывает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EAF7E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8172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берём в пилот.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E6B45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 нас эта роль уже занята: «Лига Добрососедства» и BIG Life дают волонтёрское ядро и регулярный трафик. Обязательное условие: оплачиваемый координатор кластера и школа лидеров.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5010912" cy="2606040"/>
          </a:xfrm>
          <a:prstGeom prst="roundRect">
            <a:avLst>
              <a:gd name="adj" fmla="val 421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2930652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общественный сад Community in Bloom, Сингапур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4572000"/>
            <a:ext cx="5010912" cy="1298448"/>
          </a:xfrm>
          <a:prstGeom prst="roundRect">
            <a:avLst>
              <a:gd name="adj" fmla="val 845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766560" y="5020056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соседское событие «Лиги Добрососедства» BI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9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БЛИЖНИЙ КЕЙС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 Горького: с 3,7 до 8 млн гостей за год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2011 году парк убрал платный вход, задал жёсткий стандарт чистоты, включил Wi-Fi и забил расписание событиями. Управление гибридное: город контролирует, частные спонсоры вкладываются в инфраструктуру.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944368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+ 3 млн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2194560" y="2944368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посетителей за первое лето и первую зиму после перезапуска. Для сравнения: за весь 2010 год продали 3,7 млн билетов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511296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100 тыс.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194560" y="3511296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человек в парке в пиковые выходные и праздники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Каток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194560" y="4078224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сделал из мёртвого сезона второй пик посещаемости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8172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берём в пилот.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Формула переносится без переделок: убрать барьеры, задать стандарт, насытить расписанием. А каток Горького: прямой прототип зимней активации нашего Т3.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5010912" cy="2606040"/>
          </a:xfrm>
          <a:prstGeom prst="roundRect">
            <a:avLst>
              <a:gd name="adj" fmla="val 421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2930652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Парк Горького: главная аллея летом, событийная программа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4572000"/>
            <a:ext cx="5010912" cy="1298448"/>
          </a:xfrm>
          <a:prstGeom prst="roundRect">
            <a:avLst>
              <a:gd name="adj" fmla="val 845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766560" y="5020056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каток Парка Горького, зимний якорь трафика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9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МЕТОД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 принципов и Power of 10+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98932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206654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 ПРИНЦИПОВ СОЗДАНИЯ МЕСТ · PROJECT FOR PUBLIC SPACES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932688" y="2560320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53312" y="248716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Сообщество — эксперт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32688" y="3081528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3081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353312" y="300837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Создавайте место, а не дизайн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32688" y="3602736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353312" y="352958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одиночку не получится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32688" y="4123944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123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353312" y="405079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Многое видно из наблюдения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32688" y="4645152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4645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53312" y="45720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Имейте видение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32688" y="5166360"/>
            <a:ext cx="310896" cy="3108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" y="5166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6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353312" y="509320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Начинайте с петуний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785616" y="2560320"/>
            <a:ext cx="310896" cy="3108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85616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206240" y="248716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Триангулируйте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785616" y="3081528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85616" y="3081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06240" y="300837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«Это невозможно» не аргумент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785616" y="3602736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85616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9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206240" y="352958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Форма следует за функцией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785616" y="4123944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785616" y="4123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206240" y="405079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Деньги не главная проблема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785616" y="4645152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785616" y="4645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206240" y="45720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Работа никогда не закончена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32688" y="557784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№6 — наш LQC-подход к CAPEX; №7 расставляет киоски и скамейки так, чтобы люди сталкивались.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912864" y="1828800"/>
            <a:ext cx="4638751" cy="2331720"/>
          </a:xfrm>
          <a:prstGeom prst="roundRect">
            <a:avLst>
              <a:gd name="adj" fmla="val 549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7205472" y="205740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POWER OF 10+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7205472" y="2359152"/>
            <a:ext cx="4069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 места должно быть не меньше десяти причин прийти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205472" y="3035808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Где сесть, где играть, что потрогать, что послушать, что съесть, что узнать, кого встретить. И ещё три причины вашего двора.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205472" y="374904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Считается и выше: 10 причин в месте, 10 мест в районе.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912864" y="4315968"/>
            <a:ext cx="4638751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7205472" y="452628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ПРИМЕНЕНИЕ В ПИЛОТЕ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205472" y="4828032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Power of 10 идёт в техзадание каждого объекта. Не «зона отдыха», а десять проверяемых причин прийти. Аудит по чек-листу дважды в год, вместе с замерами трафика.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9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50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ПАРТНЁРСТВА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 каждого партнёра свой интерес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Партнёрство живёт, пока партнёр решает свою задачу. На «идём навстречу» хватает ровно одного сезона.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706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70432" y="267004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Локальный бизнес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96112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Спонсирует форматы и арендует НТО. Взамен получает трафик и видимость у своей аудитории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43400" y="248716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9432" y="2706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73752" y="267004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Школы и детсады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99432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Ведут дневную программу на площадке, получают безопасную учебную среду. Родители становятся ядром сообщества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46720" y="248716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02752" y="2706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77072" y="267004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Поликлиника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02752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Назначает группы ходьбы и активности в парке: 85% пациентов соглашаются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" y="417880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96112" y="439826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70432" y="43616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НКО и энтузиасты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96112" y="48006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Ведут бесплатную регулярную программу, получают площадку и доступ к аудитории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43400" y="417880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99432" y="439826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2980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73752" y="43616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Акимат / УООСиП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99432" y="48006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 и сервисные контракты: инфраструктура в рассрочку, качество без нагрузки на штат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046720" y="417880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2752" y="439826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77072" y="43616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Операторы проката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302752" y="48006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Кикшеринг, прокат и вендинг по rev-share: точки у готового трафика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ИНСТРУМЕНТАРИЙ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33 механики в одном конструкторе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Программу объекта не придумываем с нуля, а собираем из каталога. По каждой механике в исследовании: что это, что нужно, чей прототип и что мерить.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706624"/>
            <a:ext cx="402336" cy="40233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08176" y="270662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 механик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96112" y="3218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Вход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6112" y="349300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Первое касание: соседский обед, welcome-пакет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410712" y="2487168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66744" y="2706624"/>
            <a:ext cx="402336" cy="402336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66744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78808" y="270662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666744" y="3218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Ритм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666744" y="349300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Еженедельные форматы: забег, садоводство, ярмарка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181344" y="2487168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37376" y="2706624"/>
            <a:ext cx="402336" cy="402336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37376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C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49440" y="270662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437376" y="3218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Люди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37376" y="349300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Амбассадоры, лестница вовлечения, школа лидеров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951976" y="2487168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2706624"/>
            <a:ext cx="402336" cy="402336"/>
          </a:xfrm>
          <a:prstGeom prst="ellipse">
            <a:avLst/>
          </a:prstGeom>
          <a:solidFill>
            <a:srgbClr val="E74C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08008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720072" y="270662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9208008" y="3218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Ресурсы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208008" y="349300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Микрогранты, партиципаторный бюджет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40080" y="4242816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96112" y="4462272"/>
            <a:ext cx="402336" cy="402336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96112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408176" y="446227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96112" y="49743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Пространство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96112" y="524865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Переносная мебель, триангуляция, LQC-пилоты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410712" y="4242816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666744" y="4462272"/>
            <a:ext cx="402336" cy="402336"/>
          </a:xfrm>
          <a:prstGeom prst="ellipse">
            <a:avLst/>
          </a:prstGeom>
          <a:solidFill>
            <a:srgbClr val="2980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66744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F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178808" y="446227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3666744" y="49743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Партнёрства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666744" y="524865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Поликлиника, школы, микробизнес, город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181344" y="4242816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37376" y="4462272"/>
            <a:ext cx="402336" cy="402336"/>
          </a:xfrm>
          <a:prstGeom prst="ellipse">
            <a:avLst/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37376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G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949440" y="446227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 механик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437376" y="49743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Цифра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437376" y="524865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Календарь, чаты, геймификация, замеры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951976" y="4242816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9208008" y="448056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Полный каталог — в исследовании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9208008" y="5084064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Из групп B, E и F собирается программа сезона-1 каждого пилотного объекта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52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ИСХОДНАЯ СИТУАЦИЯ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у нас на руках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48840"/>
            <a:ext cx="402336" cy="402336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08760" y="207568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Обслуживает BI Green, не передан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508760" y="2377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 объектов · 22 161 м²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897880" y="1965960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Полный контроль. Основной пул пилота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862072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3044952"/>
            <a:ext cx="402336" cy="402336"/>
          </a:xfrm>
          <a:prstGeom prst="ellipse">
            <a:avLst/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508760" y="297180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Передан 29.07–03.08.2026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508760" y="327355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 объектов · 24 240 м²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897880" y="2862072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Кому именно переданы, выяснит юраудит; дальше только через контракт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758184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14400" y="3941064"/>
            <a:ext cx="402336" cy="402336"/>
          </a:xfrm>
          <a:prstGeom prst="ellipse">
            <a:avLst/>
          </a:prstGeom>
          <a:solidFill>
            <a:srgbClr val="E74C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941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508760" y="386791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Не передан и не обслуживается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508760" y="416966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 объектов · 13 099 м²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897880" y="3758184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Ничей актив стареет прямо у наших подъездов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4654296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14400" y="4837176"/>
            <a:ext cx="402336" cy="402336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837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508760" y="476402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Передан городу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508760" y="506577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44A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 объектов · 34 620 м²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97880" y="4654296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Кандидаты на ГЧП / сервисный контракт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5669280"/>
            <a:ext cx="10911535" cy="548640"/>
          </a:xfrm>
          <a:prstGeom prst="roundRect">
            <a:avLst>
              <a:gd name="adj" fmla="val 23333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60120" y="5669280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Самое срочное — группа C.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13 099 м² не обслуживает никто. Газоны и малые формы стареют на глазах у жителей семи наших комплексов.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2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ПИЛОТА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Чего хотим от пилота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Договорились на берегу: пилот удался, если территория окупает своё содержание, а жители начинают чаще рекомендовать свой двор. Оба условия сразу.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5312664" cy="2377440"/>
          </a:xfrm>
          <a:prstGeom prst="roundRect">
            <a:avLst>
              <a:gd name="adj" fmla="val 5385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74320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FD8A5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ФИНАНСОВАЯ ЦЕЛЬ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32688" y="3054096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Территория окупает своё содержание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32688" y="3785616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Прибыли не требуем. Содержание оплачивают трафик, арендаторы, спонсоры и город. Жители не платят ничего.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6208" y="2487168"/>
            <a:ext cx="5312664" cy="2377440"/>
          </a:xfrm>
          <a:prstGeom prst="roundRect">
            <a:avLst>
              <a:gd name="adj" fmla="val 5385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28816" y="274320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СТРАТЕГИЧЕСКАЯ ЦЕЛЬ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528816" y="3054096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NPS жителей и ценность м²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28816" y="3785616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Живой двор продаёт квартиры и удерживает жильцов. Замеряем разрыв NPS между участниками и остальными, плюс премию к цене у активных территорий.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5138928"/>
            <a:ext cx="10911535" cy="777240"/>
          </a:xfrm>
          <a:prstGeom prst="roundRect">
            <a:avLst>
              <a:gd name="adj" fmla="val 16471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5138928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«Лига Добрососедства» уже в деле: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соседские форматы и волонтёры BIG Life создают регулярный трафик почти бесплатно. Этот трафик и монетизируют кофе-точка, ярмарка и спонсоры.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7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ОГРАНИЧЕНИЕ №1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Пять зимних месяцев решают всё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Зимой трафик проседает на 70–90%. Расходы при этом никуда не деваются: на место полива и покоса приходит снегоуборка. Кривая иллюстративная, откалибруем её замерами нулевого спринта.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487168"/>
          <a:ext cx="69494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760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Трафик в % от пикового месяца. Тёплый сезон приносит около 80% годовых посещений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955280" y="2487168"/>
            <a:ext cx="3596335" cy="3566160"/>
          </a:xfrm>
          <a:prstGeom prst="roundRect">
            <a:avLst>
              <a:gd name="adj" fmla="val 359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47888" y="272491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ДВА ПРАВИЛА МОДЕЛИ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247888" y="309067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1. Считаем только помесячно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247888" y="340156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Годовое среднее прячет убыток пяти зимних месяцев. Поэтому отдельные кривые: для трафика и для каждой статьи OPEX.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247888" y="42611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2. Зимой активен только Т3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8247888" y="4572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Каток, горка и свет окупаются на плейхабах. Аллеи зимуют в режиме «чисто и безопасно» с минимальным OPEX.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14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5" name="Image 0" descr="assets/big-life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ПОДХОД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Три типа, три модели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Зарабатывает не квадратный метр. Зарабатывает трафик, а трафик делает программа. Поэтому у каждого типа своё меню: сначала активности, потом коммерция.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95728"/>
            <a:ext cx="3429000" cy="352044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633472"/>
            <a:ext cx="457200" cy="457200"/>
          </a:xfrm>
          <a:prstGeom prst="ellipse">
            <a:avLst/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263347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Транзитная аллея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96112" y="31821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 1 000 м² · 6 объектов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96112" y="3602736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Чистая освещённая связка. Поодиночке такие не окупаются нигде в мире; работают только кластером под одной командой.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96112" y="45262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Вендинг · спонсорство · навигация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96112" y="5120640"/>
            <a:ext cx="2926080" cy="566928"/>
          </a:xfrm>
          <a:prstGeom prst="roundRect">
            <a:avLst>
              <a:gd name="adj" fmla="val 14516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512064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OPEX: </a:t>
            </a:r>
            <a:pPr indent="0" marL="0">
              <a:buNone/>
            </a:pPr>
            <a:r>
              <a:rPr lang="en-US" sz="13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10–30%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43400" y="2395728"/>
            <a:ext cx="3429000" cy="352044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99432" y="2633472"/>
            <a:ext cx="457200" cy="45720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99432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263347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Активная аллея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99432" y="31821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1 000–7 000 м² · 24 объекта · ядро портфеля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99432" y="3602736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Районная ось. Один коммерческий якорь, еженедельный ритм событий, 6–8 ярмарок за сезон.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99432" y="45262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НТО-аренда · ярмарки · секции · реклама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99432" y="5120640"/>
            <a:ext cx="2926080" cy="566928"/>
          </a:xfrm>
          <a:prstGeom prst="roundRect">
            <a:avLst>
              <a:gd name="adj" fmla="val 14516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45736" y="512064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OPEX: </a:t>
            </a:r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40–70%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046720" y="2395728"/>
            <a:ext cx="3429000" cy="352044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302752" y="2633472"/>
            <a:ext cx="457200" cy="45720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02752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869680" y="263347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Плейхаб / сквер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302752" y="31821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 функции: Аква 1, Авеню 5, Сезым, парк ЗК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302752" y="3602736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Событийное ядро микрорайона. Единственный тип, который живёт круглый год: летом фестивали, зимой каток.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302752" y="45262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Всё меню + события + каток зимой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302752" y="5120640"/>
            <a:ext cx="2926080" cy="566928"/>
          </a:xfrm>
          <a:prstGeom prst="roundRect">
            <a:avLst>
              <a:gd name="adj" fmla="val 14516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49056" y="512064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OPEX: </a:t>
            </a:r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70–100%+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4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МОНЕТИЗАЦИЯ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 чём зарабатывает территория</a:t>
            </a:r>
            <a:endParaRPr lang="en-US" sz="3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685800"/>
                <a:gridCol w="685800"/>
                <a:gridCol w="685800"/>
                <a:gridCol w="5650992"/>
              </a:tblGrid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Инструмент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Т1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Т2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Т3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Комментарий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Вендинг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Единственная «коммерция» микро-аллей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Спонсорство объектов (adopt-a-*)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Локальный бизнес, годовые пакеты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Реклама и digital-экраны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опц.</a:t>
                      </a:r>
                      <a:endParaRPr lang="en-US" sz="8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Зависит от юрстатуса земли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НТО-аренда: фикс + % с оборота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Якорь Т2; павильон строит арендатор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Ярмарки: сбор с продавца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Заодно инкубатор микробизнеса жителей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Слоты платных секций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Тренер платит за слот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Кикшеринг и прокат: rev-share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Слоты операторов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Событийная аренда площадки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опц.</a:t>
                      </a:r>
                      <a:endParaRPr lang="en-US" sz="8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Частные и корпоративные события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Зимняя активация: каток, прокат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Отдельный инвесткейс, решаем после сезона-1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Спонсор года / нейминг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опц.</a:t>
                      </a:r>
                      <a:endParaRPr lang="en-US" sz="8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Один якорный партнёр на объект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Два железных правила.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каждом договоре с оператором квота бесплатных часов для жителей: урок японского Park-PFI. И платят коммерсанты, спонсоры и город. Не жители.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ФИНМОДЕЛЬ · ТРАНЗИТНАЯ АЛЛЕЯ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Т1 в цифрах: Flora 1 + 2, кластер 676 м²</a:t>
            </a:r>
            <a:endParaRPr lang="en-US" sz="3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635240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3017520"/>
                <a:gridCol w="1554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Статья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Как считаем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млн тг/год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292608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Вендинг, 1–2 автомата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аренда точки 25–45 тыс тг/мес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0,3–0,5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«Усынови клумбу»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3–5 спонсоров по 80–150 тыс тг/год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0,2–0,6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Реклама на навигации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при подходящем юрстатусе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0–0,4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0,5–1,5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292608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РАСХОДЫ (OPEX)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Уборка и снегоуборка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1 352 м² общей по 60–90 тг/м² в месяц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1,0–1,5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Озеленение и полив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676 м² насаждений, апрель–октябрь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0,4–0,8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Освещение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 общей площади, длинная зимняя ночь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0,2–0,3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Координатор кластера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1/5 ставки на пару объектов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0,7–1,0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Ремфонд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1–1,5% в год от 72 млн тг активов кластера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0,8–1,2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OPEX,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3,1–4,8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458200" y="1783080"/>
            <a:ext cx="3093415" cy="1600200"/>
          </a:xfrm>
          <a:prstGeom prst="roundRect">
            <a:avLst>
              <a:gd name="adj" fmla="val 800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714232" y="1956816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714232" y="2194560"/>
            <a:ext cx="2581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10–30%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714232" y="2761488"/>
            <a:ext cx="25813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Полной окупаемости у микро-аллей нет нигде в мире. Пара Flora проверяет главное: экономику кластера.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458200" y="3493008"/>
            <a:ext cx="3093415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714232" y="3657600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ДОЛЖНО СОЙТИСЬ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732520" y="4059936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33688" y="3950208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Кластер: общий координатор и бригада, не своя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732520" y="4443984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33688" y="4334256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Спонсоры продлеваются на второй год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732520" y="4828032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33688" y="4718304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Юрстатус пропускает рекламу на стелах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458200" y="5257800"/>
            <a:ext cx="3093415" cy="804672"/>
          </a:xfrm>
          <a:prstGeom prst="roundRect">
            <a:avLst>
              <a:gd name="adj" fmla="val 11364"/>
            </a:avLst>
          </a:prstGeom>
          <a:solidFill>
            <a:srgbClr val="FDF0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22792" y="5257800"/>
            <a:ext cx="2764231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A542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Вилки планировочные. Точные ставки дадут факт BI Green и нулевой спринт; на них соберём Excel-модель в ноябре.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ФИНМОДЕЛЬ · АКТИВНАЯ АЛЛЕЯ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 в цифрах: Хедлайнер Эксклюзив, 4 000 м²</a:t>
            </a:r>
            <a:endParaRPr lang="en-US" sz="3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635240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3017520"/>
                <a:gridCol w="1554480"/>
              </a:tblGrid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Статья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Как считаем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млн тг/год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264033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НТО-якорь: кофе-павильон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аренда 120–250 тыс тг/мес + 2–5% оборота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1,8–3,6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Ярмарка выходного дня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12–16 ярмарок, 15–25 мест по 3–5 тыс тг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0,7–1,8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Секции и кикшеринг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слоты тренерам + rev-share операторов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0,6–1,6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Digital-экран и реклама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при подходящем юрстатусе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0,8–2,0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Спонсорство объектов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воркаут, клумбы, скамейки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0,5–1,2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4,4–10,2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264033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РАСХОДЫ (OPEX)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Уборка и снегоуборка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8 000 м² общей по 30–55 тг/м² в месяц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2,9–5,3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Озеленение и полив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4 000 м² насаждений, апрель–октябрь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1,1–2,0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Свет и электро для НТО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общая площадь + событийные подключения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0,5–0,9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Программа и маркетинг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20–30 событий по 95–130 тыс тг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1,9–3,9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Координатор кластера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1/3 ставки на объект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1,2–1,6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Ремфонд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1–1,5% от CAPEX активации до справки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0,2–0,6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OPEX,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7,8–14,3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458200" y="1783080"/>
            <a:ext cx="3093415" cy="1600200"/>
          </a:xfrm>
          <a:prstGeom prst="roundRect">
            <a:avLst>
              <a:gd name="adj" fmla="val 800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714232" y="1956816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714232" y="2194560"/>
            <a:ext cx="2581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40–70%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714232" y="2761488"/>
            <a:ext cx="25813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Середина вилок даёт около 66% покрытия: верх коридора уже в первый полный сезон.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458200" y="3493008"/>
            <a:ext cx="3093415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714232" y="3657600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ДОЛЖНО СОЙТИСЬ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732520" y="4059936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33688" y="3950208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Якорь-павильон заполнен с мая по сентябрь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732520" y="4443984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33688" y="4334256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Ярмарка стала привычкой района: 12+ за сезон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732520" y="4828032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33688" y="4718304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Вечерние слоты секций выкуплены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458200" y="5257800"/>
            <a:ext cx="3093415" cy="804672"/>
          </a:xfrm>
          <a:prstGeom prst="roundRect">
            <a:avLst>
              <a:gd name="adj" fmla="val 11364"/>
            </a:avLst>
          </a:prstGeom>
          <a:solidFill>
            <a:srgbClr val="FDF0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22792" y="5257800"/>
            <a:ext cx="2764231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A542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Вилки планировочные. Точные ставки дадут факт BI Green и нулевой спринт; на них соберём Excel-модель в ноябре.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18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ФИНМОДЕЛЬ · ПЛЕЙХАБ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Т3 в цифрах: Сквер Авеню 5, 1 700 м²</a:t>
            </a:r>
            <a:endParaRPr lang="en-US" sz="3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635240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3017520"/>
                <a:gridCol w="1554480"/>
              </a:tblGrid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Статья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Как считаем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млн тг/год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24850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Две НТО-точки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кофе и выпечка: аренда + % оборота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2,4–4,8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Каток: прокат и билеты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компактный контур, 120–160 дней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1,5–3,5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Событийная аренда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10–18 частных и корпоративных событий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1,0–2,8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Ярмарки, маркеты, секции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круглогодичный календарь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1,3–2,6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Спонсор года и реклама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один якорный партнёр + экран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1,5–3,7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7,7–17,4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24850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РАСХОДЫ (OPEX)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Уборка и снегоуборка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3 400 м² общей по 60–100 тг/м², интенсив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2,4–4,1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Озеленение и полив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1 700 м² насаждений, апрель–октябрь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0,7–1,1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Свет, электро, Wi-Fi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 общей площади + архитектурная подсветка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0,6–1,0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Зимний пакет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заливка, уход за льдом, персонал проката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2,5–4,5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Программа и маркетинг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30–45 событий в год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2,9–5,9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Координатор и событийщик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доли двух ставок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2,2–3,0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Ремфонд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1–1,5% от активов (2,1 млн) + CAPEX активации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0,4–1,8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OPEX,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11,7–21,4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458200" y="1783080"/>
            <a:ext cx="3093415" cy="1600200"/>
          </a:xfrm>
          <a:prstGeom prst="roundRect">
            <a:avLst>
              <a:gd name="adj" fmla="val 800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714232" y="1956816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714232" y="2194560"/>
            <a:ext cx="2581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70–100%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714232" y="2761488"/>
            <a:ext cx="25813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Середина вилок даёт ~76%. Каток и спонсор года раскручиваются ко второму-третьему году.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458200" y="3493008"/>
            <a:ext cx="3093415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714232" y="3657600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ДОЛЖНО СОЙТИСЬ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732520" y="4059936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33688" y="3950208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Каток отработал первую зиму без простоев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732520" y="4443984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33688" y="4334256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Заявок на события больше, чем слотов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732520" y="4828032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33688" y="4718304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Спонсор года подписан до старта сезона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458200" y="5257800"/>
            <a:ext cx="3093415" cy="804672"/>
          </a:xfrm>
          <a:prstGeom prst="roundRect">
            <a:avLst>
              <a:gd name="adj" fmla="val 11364"/>
            </a:avLst>
          </a:prstGeom>
          <a:solidFill>
            <a:srgbClr val="FDF0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22792" y="5257800"/>
            <a:ext cx="2764231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A542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Вилки планировочные. Точные ставки дадут факт BI Green и нулевой спринт; на них соберём Excel-модель в ноябре.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19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МЕХАНИЗМ 4 · ДЛЯ ПЕРЕДАННЫХ ГОРОДУ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 мы уже пробуем: Sphere Park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 7 га с озером 2 га у школы BINOM, рядом бигвилль Capital Park. Механизм «частная инициатива», модель BTO: строим сами, передаём государству, пять лет эксплуатируем за компенсацию.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ГЧП-контракт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 rot="5400000">
            <a:off x="2688336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52928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54096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54096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054096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Финансирование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100% частное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 rot="5400000">
            <a:off x="4901184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65776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66944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66944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266944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Строительство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 год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 rot="5400000">
            <a:off x="7114032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78624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79792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79792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479792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Передача на баланс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государства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 rot="5400000">
            <a:off x="9326880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91472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692640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92640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692640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Эксплуатация 5 лет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+ компенсации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3977640"/>
            <a:ext cx="3429000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~2,2 млрд тг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96112" y="448056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вкладывает частный партнёр; бюджет МИО компенсирует в 2026–2031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343400" y="3977640"/>
            <a:ext cx="3429000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99432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~0,33 млрд тг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599432" y="448056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компенсация эксплуатации за 5 лет: городской бенчмарк базового содержания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046720" y="3977640"/>
            <a:ext cx="3429000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2752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0%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8302752" y="448056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софинансирование государства на старте: стройку целиком ведёт партнёр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40080" y="5285232"/>
            <a:ext cx="10911535" cy="713232"/>
          </a:xfrm>
          <a:prstGeom prst="roundRect">
            <a:avLst>
              <a:gd name="adj" fmla="val 1794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" y="5285232"/>
            <a:ext cx="102714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это даёт портфелю. </a:t>
            </a:r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Возврат доходности на 34 620 м², уже переданных городу: крупные объекты через ГЧП при реконструкции, мелкие через сервисный контракт силами BI Green. Городу качество у витринных ЖК, нам возврат вложений.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42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ИНВЕСТИЦИИ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Достраиваем, а не строим заново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Подход LQC: lighter, quicker, cheaper. Поверх готового благоустройства достраиваем слой, который приносит деньги и события. Тяжёлые инвестиции идут только после проверки спроса.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4871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Проектирование и юраудит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212080" y="248716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5–8%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309360" y="2596896"/>
            <a:ext cx="27432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91693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Электрика и свет (точки НТО, подсветка)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212080" y="291693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15–20%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9360" y="3026664"/>
            <a:ext cx="82296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34670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Покрытия, МАФ, навигация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212080" y="334670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20–30%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3456432"/>
            <a:ext cx="109728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7764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Коммерческая инфраструктура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212080" y="377647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10–15%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0" y="3886200"/>
            <a:ext cx="54864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206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Активити: детская, воркаут, сцена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212080" y="42062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15–25%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0" y="4315968"/>
            <a:ext cx="82296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6360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Озеленение и полив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212080" y="46360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8–12%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309360" y="4745736"/>
            <a:ext cx="438912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06577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Digital: счётчики, Wi-Fi, экран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212080" y="506577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5–8%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309360" y="5175504"/>
            <a:ext cx="27432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54955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Резерв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212080" y="54955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10%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309360" y="5605272"/>
            <a:ext cx="54864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29600" y="2487168"/>
            <a:ext cx="3322015" cy="2743200"/>
          </a:xfrm>
          <a:prstGeom prst="roundRect">
            <a:avLst>
              <a:gd name="adj" fmla="val 4667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503920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ОРИЕНТИР БЮДЖЕТА АКТИВАЦИИ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503920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Т1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189720" y="30358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3–8 млн тг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503920" y="36027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189720" y="360273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15–40 млн тг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503920" y="416966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Т3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189720" y="41696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40–120 млн тг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503920" y="468172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Это порядки для планирования, не сметы. Верх Т3 включает зимний пакет. Павильоны строят арендаторы.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" y="59436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Сметы появятся из проектирования в октябре-ноябре, после юраудита и выбора объектов.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21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4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ПЕРИМЕТР · ШОРТ-ЛИСТ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Девять объектов в шорт-листе, три пилота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Площади реестра — зелёные насаждения; общая площадь территории предварительно вдвое больше, точные границы даст юраудит. Пилоты утверждены рабочей группой.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31720"/>
          <a:ext cx="1091153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08760"/>
                <a:gridCol w="868680"/>
                <a:gridCol w="1691640"/>
                <a:gridCol w="1783080"/>
                <a:gridCol w="1856232"/>
              </a:tblGrid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Объект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Тип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Группа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Озеленение, м²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Общая, м² (×2)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Роль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Сквер Авеню 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Сквер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1 700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3 400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Пилот Т3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Хедлайнер Эксклюзив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4 000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8 000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Пилот Т2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ЖК Flora 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Транзитная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338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676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Пилот Т1, кластер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ЖК Flora 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Транзитная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338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676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Пилот Т1, кластер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Nexpo Классик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6 200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12 400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Резерв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Аура Аллея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Транзитная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800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1 600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Резерв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Гранд Туран Комфорт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2 300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4 600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Резерв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Плейхаб Аква 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2 385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4 770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Резерв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Nexpo Юнион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C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2 419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4 838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Резерв; не обслуживается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Итого: 9 объектов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 Т1 · 5 Т2 · 1 Т3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20 480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~ 40 960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ПЕРИМЕТР · АКТИВЫ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уже стоит на этих аллеях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Справки застройщиков о балансовой стоимости: на восьми объектах шорт-листа активы на ~0,5 млрд тг. Пилот получает не пустыри, а работающую инфраструктуру — её надо содержать и не дать ей тихо самортизироваться.</a:t>
            </a:r>
            <a:endParaRPr lang="en-US" sz="1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31720"/>
          <a:ext cx="1091153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234440"/>
                <a:gridCol w="6748272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Объект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Активы, млн тг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Что на балансе (по справке)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Сквер Авеню 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только озеленение: 458 растений. Света, МАФов и покрытий на балансе нет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Хедлайнер Эксклюзив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справка запрошена у застройщика, внесём после нулевого спринта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ЖК Flora 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42,1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брусчатка, 1 647 кустарников и 49 деревьев, 10 скамеек, 20 светильников, гирлянда 300 м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ЖК Flora 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30,1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брусчатка, 1 087 кустарников и 34 дерева, 8 скамеек, 20 светильников, гирлянда 480 м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Nexpo Классик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135,4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детское ядро с двумя большими горками, батут, карусель; автополив; земля 0,37 га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Гранд Туран Комфорт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129,1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покрытия ~5 200 м², десять игровых комплексов, 27 скамеек, 23 опоры света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Nexpo Юнион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73,4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игровой комплекс со скалодромом за 42 млн, воркаут, теннисный стол, 54 светильника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Аура Аллея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60,3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брусчатка 2 000 м², 2 268 растений, 11 скамеек, гирлянда 250 м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Плейхаб Аква 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31,8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мини-поле с искусственной травой, баскетбол, воркаут-серия, канатный лаз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Итого по восьми справкам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504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ремфонд в финмоделях: 1–1,5% стоимости активов и новых вложений в год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ПЕРИМЕТР ПИЛОТА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Пилотная тройка утверждена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Все три из группы A: полный контроль, уже обслуживает BI Green. По одному объекту на каждую финмодель.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95728"/>
            <a:ext cx="3429000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633472"/>
            <a:ext cx="566928" cy="310896"/>
          </a:xfrm>
          <a:prstGeom prst="roundRect">
            <a:avLst>
              <a:gd name="adj" fmla="val 26471"/>
            </a:avLst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63347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30358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Сквер Авеню 5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96112" y="3364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1 700 м² озеленения · ~3 400 м² общей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96112" y="36758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 балансе только зелень на 2,1 млн тг: свет и событийное ядро создаёт пилот. Здесь же стартует нулевой спринт.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43400" y="2395728"/>
            <a:ext cx="3429000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99432" y="2633472"/>
            <a:ext cx="566928" cy="310896"/>
          </a:xfrm>
          <a:prstGeom prst="roundRect">
            <a:avLst>
              <a:gd name="adj" fmla="val 26471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99432" y="263347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99432" y="30358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Хедлайнер Эксклюзив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599432" y="3364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4 000 м² озеленения · ~8 000 м² общей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99432" y="36758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Модель «якорь + ритм»: кофе-павильон, ярмарки, вечерние секции. Справка об активах запрошена у застройщика.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46720" y="2395728"/>
            <a:ext cx="3429000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302752" y="2633472"/>
            <a:ext cx="566928" cy="310896"/>
          </a:xfrm>
          <a:prstGeom prst="roundRect">
            <a:avLst>
              <a:gd name="adj" fmla="val 26471"/>
            </a:avLst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02752" y="263347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02752" y="30358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Flora 1 + Flora 2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302752" y="3364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338 + 338 м² · два объекта вместе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302752" y="36758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Одна команда, один календарь. Активы на 72 млн тг: 40 светильников, 780 м гирлянд, 18 скамеек — вечерний трафик готов.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5029200"/>
            <a:ext cx="10911535" cy="960120"/>
          </a:xfrm>
          <a:prstGeom prst="roundRect">
            <a:avLst>
              <a:gd name="adj" fmla="val 13333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60120" y="51937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НУЛЕВОЙ СПРИНТ: СТАРТУЕМ В СЕНТЯБРЕ, БЕЗ CAPEX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60120" y="5486400"/>
            <a:ext cx="102714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Сквер Авеню 5: три-четыре события из календаря Лиги, временная кофе-точка, счётчики трафика и замер NPS. К декабрю у финмоделей будут собственные факты вместо чужих бенчмарков.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ИЗМЕРЕНИЕ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Как поймём, что получилось</a:t>
            </a:r>
            <a:endParaRPr lang="en-US" sz="3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120640"/>
                <a:gridCol w="405079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Контур</a:t>
                      </a:r>
                      <a:endParaRPr lang="en-US" sz="11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Метрика</a:t>
                      </a:r>
                      <a:endParaRPr lang="en-US" sz="11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Цель 12 мес.</a:t>
                      </a:r>
                      <a:endParaRPr lang="en-US" sz="11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Финансы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Покрытие OPEX доходами по типам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Т1: 10–30% · Т2: 40–70% · Т3: 70%+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Финансы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OPEX/м² лето и зима, эффект кластера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Снижение OPEX/м² на кластерных объектах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Трафик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Посещений в день (счётчики + public life замеры)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×2 к базлайну нулевого спринта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Трафик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Заявки на событийные слоты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Заявок больше, чем слотов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NPS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Разрыв NPS: участвует / не участвует в активностях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+15 пунктов и больше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Сообщество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Регулярные форматы без пропусков; доля событий от жителей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2+ формата на объект; 30%+ событий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Ценность м²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Премия аренды/цены у активированных территорий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Фиксация тренда (горизонт 24+ мес.)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Базлайны трафика и NPS снимаем в сентябре, до активации. Иначе через год эффект будет не с чем сравнивать.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ШАГ 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Сначала юраудит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Статус земли решает, чем на ней можно зарабатывать. А статусы у нас пёстрые, поэтому до CAPEX проверяем все 31: заодно выясним, кому ушли семь объектов в июле-августе.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10911535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770632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2487168"/>
            <a:ext cx="3474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Земля BI / дочерних структур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846320" y="2487168"/>
            <a:ext cx="33832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Всё меню монетизации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412480" y="2487168"/>
            <a:ext cx="28648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Решение компании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566160"/>
            <a:ext cx="10911535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96112" y="3849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3566160"/>
            <a:ext cx="3474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Общедолевая собственность жителей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46320" y="3566160"/>
            <a:ext cx="33832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НТО, реклама, события с согласия ОСИ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412480" y="3566160"/>
            <a:ext cx="28648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Revenue-share: часть дохода уходит в бюджет двора, что работает и на NPS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4645152"/>
            <a:ext cx="10911535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96112" y="4928616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4645152"/>
            <a:ext cx="3474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Городская земля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846320" y="4645152"/>
            <a:ext cx="33832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ГЧП, сервисный контракт, согласованные НТО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412480" y="4645152"/>
            <a:ext cx="28648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 с акиматом или УООСиП; прецедент Sphere Park уже есть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 аудит не остановит: спонсорство, события и вендинг работают почти при любом статусе. Меняется состав меню, не сама идея.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3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ПЛАН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План до осени 2027 года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Сен 2026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14400" y="2990088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52144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Юраудит 31 объекта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14400" y="3557016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52144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Нулевой спринт на Аква 1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14400" y="4123944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52144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Базлайны: трафик, NPS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14400" y="4690872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52144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Факт OPEX от BI Green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 rot="5400000">
            <a:off x="3255264" y="3566160"/>
            <a:ext cx="137160" cy="137160"/>
          </a:xfrm>
          <a:prstGeom prst="triangle">
            <a:avLst/>
          </a:prstGeom>
          <a:solidFill>
            <a:srgbClr val="8A93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10712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66744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66744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Окт–Ноя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685032" y="2990088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22776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Финализация 3 объектов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85032" y="3557016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22776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Концепт-дизайн LQC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85032" y="4123944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22776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Excel-финмодели на фактах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685032" y="4690872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22776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Переговоры с операторами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 rot="5400000">
            <a:off x="6025896" y="3566160"/>
            <a:ext cx="137160" cy="137160"/>
          </a:xfrm>
          <a:prstGeom prst="triangle">
            <a:avLst/>
          </a:prstGeom>
          <a:solidFill>
            <a:srgbClr val="8A93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81344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37376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37376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Дек–Мар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455664" y="2990088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93408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Утверждение CAPEX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55664" y="3557016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93408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Договоры с арендаторами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55664" y="4123944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93408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Волонтёрское ядро через Лигу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55664" y="4690872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93408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Монтаж с марта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 rot="5400000">
            <a:off x="8796528" y="3566160"/>
            <a:ext cx="137160" cy="137160"/>
          </a:xfrm>
          <a:prstGeom prst="triangle">
            <a:avLst/>
          </a:prstGeom>
          <a:solidFill>
            <a:srgbClr val="8A93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51976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9208008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208008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Апр–Окт 2027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9226296" y="2990088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464040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Запуск сезона-1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9226296" y="3557016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464040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Помесячные замеры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9226296" y="4123944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464040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Октябрь: факт vs модель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9226296" y="4690872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464040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Go/no-go тиражирования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40080" y="5532120"/>
            <a:ext cx="10911535" cy="566928"/>
          </a:xfrm>
          <a:prstGeom prst="roundRect">
            <a:avLst>
              <a:gd name="adj" fmla="val 22581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960120" y="5532120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 с ноября 2027-го: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зимний пакет Т3, если сезон подтвердил трафик, и подготовка ГЧП с сервисными контрактами по группе D.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27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55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РИСКИ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Где это ломалось у других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209397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Коммерция вытесняет жителей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96112" y="242316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Квота бесплатных часов и зон в каждом договоре с оператором. Урок японского Park-PFI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236208" y="196596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209397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Монетизация «об жителей» бьёт по NPS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92240" y="242316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Платят коммерсанты, спонсоры и город. Жителям остаётся бесплатное ядро программы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29184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96112" y="341985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Сезонность съедает экономику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374904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Помесячная модель, зимний минимум на Т1 и Т2, зимняя активация только на Т3 и только после проверки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36208" y="329184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41985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Микрообъекты убыточны всегда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92240" y="374904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Только кластерное управление: одна команда на 3–5 объектов. Поштучно Т1 не активируем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461772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96112" y="474573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Выгорание событийной команды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96112" y="507492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Волонтёрское ядро плюс оплачиваемый координатор: это несущая конструкция, не накладные расходы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36208" y="461772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92240" y="474573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Юрстатус блокирует коммерцию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92240" y="507492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Аудит до CAPEX. Спонсорство и события работают почти при любом статусе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28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4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137160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ПРОСИМ ПЯТЬ РЕШЕНИЙ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40080" y="187452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417320" y="1874520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Одобрить пилот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1417320" y="22402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 объекта (Т1 + Т2 + Т3), горизонт 12 месяцев, двойная цель: покрытие OPEX + NPS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" y="2715768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02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417320" y="2715768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Санкционировать юраудит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1417320" y="308152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31 территория в сентябре: статусы земли и адресаты передач июля-августа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3557016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03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417320" y="3557016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Утвердить нулевой спринт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1417320" y="392277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Плейхаб Аква 1, сентябрь–октябрь, в рамках текущих бюджетов мероприятий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4398264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04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417320" y="4398264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Поручить передать факт OPEX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1417320" y="4764024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Green / BI Service: 2024–2026 по группе A, по статьям, лето/зима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523951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05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1417320" y="5239512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Рассмотреть CAPEX в декабре</a:t>
            </a:r>
            <a:endParaRPr lang="en-US" sz="1650" dirty="0"/>
          </a:p>
        </p:txBody>
      </p:sp>
      <p:sp>
        <p:nvSpPr>
          <p:cNvPr id="18" name="Text 15"/>
          <p:cNvSpPr/>
          <p:nvPr/>
        </p:nvSpPr>
        <p:spPr>
          <a:xfrm>
            <a:off x="1417320" y="560527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 базе Excel-финмоделей, откалиброванных данными нулевого спринта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" y="6263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Концепция: docs/research/park-pilot-concept.md · Исследование мировых практик: park-community-management.md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BI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Пилот: парки и аллеи BI</dc:title>
  <dc:subject>PptxGenJS Presentation</dc:subject>
  <dc:creator>BI Service</dc:creator>
  <cp:lastModifiedBy>BI Service</cp:lastModifiedBy>
  <cp:revision>1</cp:revision>
  <dcterms:created xsi:type="dcterms:W3CDTF">2026-08-17T07:11:08Z</dcterms:created>
  <dcterms:modified xsi:type="dcterms:W3CDTF">2026-08-17T07:11:08Z</dcterms:modified>
</cp:coreProperties>
</file>