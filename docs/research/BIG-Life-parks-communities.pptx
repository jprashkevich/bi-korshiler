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Отчёт отвечает на два вопроса: как в мире управляют общественными пространствами и как в них выращивают соседские сообщества. Всё, что дальше, — с прототипами и цифрами, применимо к нашим ЖК.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Логика документа — воронка: от «зачем» к «что делать в понедельник».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слайд, ради которого стоит показывать всю презентацию руководству. Всё остальное — следствие.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Слои читаются снизу вверх по стоимости и сверху вниз по ценности. Бюджет обычно распределён ровно наоборот.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Эти четыре цифры — набор для слайда в чужой презентации. Каждая привязана к источнику.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Строка 7 — наша отправная точка. Строки 2-6 — источники механик, которые в неё можно встроить.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Универсальный набор Брайант-парка: переносные стулья, частные деньги, программирование в непиковые часы, отличные туалеты.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Сингапур — самая систематизированная программа стюардства в мире. Копировать стоит не форму, а принцип: инфраструктурное обслуживание активности жителей.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Ключевой риск: если программа держится на бюджете и сотрудниках застройщика, она умирает за один сезон после выхода из проекта.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Для нас релевантны последние три строки — и они не исключают друг друга, а идут последовательно во времени.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Стратегии не альтернативны — это слои одной программы. Дальше подробно раскрыты четыре ключевые.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Power of 10 удобно превращать в техзадание: не «зона отдыха», а проверяемый список из 10 причин прийти.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самый дешёвый по деньгам и самый сильный по эффекту сдвиг в программе. Меняется одна формулировка в опросе.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Прямой аналог для нас: еженедельная бесплатная активность во дворе. Нужно 5-7 волонтёров ядра и 15-20 человек стартового актива.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Superkilen попал в презентацию намеренно: это самый растиражированный пример «соучастия», и он же самый критикуемый.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Дальше — четыре слайда с самыми применимыми механиками из групп A-G.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Группа A даёт первое касание, группа B — удержание. Без B группа A превращается в разовую акцию.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Удержание волонтёров держится на реакции на их предложения — не на благодарностях. Это подтверждённый вывод исследований волонтёрского менеджмента.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Важно для нашего контекста: деньги — инструмент второго года. Сначала бесплатные совместные действия и доверие.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Доля событий, созданных жителями, а не оператором — главный индикатор зрелости всей программы.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Вопрос об ощущении принадлежности к местному сообществу — готовая формулировка из национальных опросов здоровья. Её можно взять целиком.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Каждый риск взят из задокументированного провала конкретной программы, а не из общих соображений.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Строка «деньги ломают соседство» — самое важное отличие нашего контекста от западных кейсов, где микрогранты стоят в начале воронки.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Последовательность важнее содержания: если поставить микрогранты в первый квартал, они уйдут самым громким, а не самым уважаемым.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Финальный слайд — то, что должно остаться в голове после встречи.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ig-life-logo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66928"/>
            <a:ext cx="1554480" cy="5760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0848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6FCBF1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ИССЛЕДОВАНИЕ · АВГУСТ 2026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640080" y="2487168"/>
            <a:ext cx="9966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500"/>
              </a:lnSpc>
              <a:buNone/>
            </a:pPr>
            <a:r>
              <a:rPr lang="en-US" sz="3700" b="1" dirty="0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Управление парками</a:t>
            </a:r>
            <a:endParaRPr lang="en-US" sz="3700" dirty="0"/>
          </a:p>
          <a:p>
            <a:pPr indent="0" marL="0">
              <a:lnSpc>
                <a:spcPts val="4500"/>
              </a:lnSpc>
              <a:buNone/>
            </a:pPr>
            <a:r>
              <a:rPr lang="en-US" sz="3700" b="1" dirty="0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и развитие локальных сообществ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40080" y="4261104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6CEE4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Обзор мировых практик: стратегии и механики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40080" y="504748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7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640080" y="559612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FB0D4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моделей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FB0D4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управления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2121408" y="504748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8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2121408" y="559612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FB0D4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стратегий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602736" y="504748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33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3602736" y="559612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FB0D4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механики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FB0D4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с прототипами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084064" y="504748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14</a:t>
            </a:r>
            <a:endParaRPr lang="en-US" sz="3400" dirty="0"/>
          </a:p>
        </p:txBody>
      </p:sp>
      <p:sp>
        <p:nvSpPr>
          <p:cNvPr id="13" name="Text 10"/>
          <p:cNvSpPr/>
          <p:nvPr/>
        </p:nvSpPr>
        <p:spPr>
          <a:xfrm>
            <a:off x="5084064" y="559612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FB0D4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стран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979615" y="60533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0C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Подготовлено для BI Service · проект «Лига Добрососедства»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009FE3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СТРУКТУРА ОТЧЁТА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911535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729"/>
              </a:lnSpc>
              <a:buNone/>
            </a:pPr>
            <a:r>
              <a:rPr lang="en-US" sz="3300" b="1" dirty="0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Что внутри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664208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От доказательной базы к операционным инструментам: каждый следующий раздел конкретнее предыдущего.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304288"/>
            <a:ext cx="10911535" cy="658368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9525">
            <a:solidFill>
              <a:srgbClr val="DFE5F0"/>
            </a:solidFill>
            <a:prstDash val="solid"/>
          </a:ln>
          <a:effectLst>
            <a:outerShdw sx="100000" sy="100000" kx="0" ky="0" algn="bl" rotWithShape="0" blurRad="127000" dist="572" dir="5400000">
              <a:srgbClr val="101A45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432304"/>
            <a:ext cx="402336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2432304"/>
            <a:ext cx="402336" cy="402336"/>
          </a:xfrm>
          <a:prstGeom prst="ellipse">
            <a:avLst/>
          </a:prstGeom>
          <a:solidFill>
            <a:srgbClr val="009FE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4323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508760" y="2304288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Рамка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251960" y="2304288"/>
            <a:ext cx="70253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Зачем это бизнесу: доказательная база и язык для защиты бюджета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090672"/>
            <a:ext cx="10911535" cy="658368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9525">
            <a:solidFill>
              <a:srgbClr val="DFE5F0"/>
            </a:solidFill>
            <a:prstDash val="solid"/>
          </a:ln>
          <a:effectLst>
            <a:outerShdw sx="100000" sy="100000" kx="0" ky="0" algn="bl" rotWithShape="0" blurRad="127000" dist="572" dir="5400000">
              <a:srgbClr val="101A45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14400" y="3218688"/>
            <a:ext cx="402336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3218688"/>
            <a:ext cx="402336" cy="402336"/>
          </a:xfrm>
          <a:prstGeom prst="ellipse">
            <a:avLst/>
          </a:prstGeom>
          <a:solidFill>
            <a:srgbClr val="2980B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2186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508760" y="3090672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Модели управления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251960" y="3090672"/>
            <a:ext cx="70253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Семь способов ответить «кто хозяин места» — с матрицей выбора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3877056"/>
            <a:ext cx="10911535" cy="658368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9525">
            <a:solidFill>
              <a:srgbClr val="DFE5F0"/>
            </a:solidFill>
            <a:prstDash val="solid"/>
          </a:ln>
          <a:effectLst>
            <a:outerShdw sx="100000" sy="100000" kx="0" ky="0" algn="bl" rotWithShape="0" blurRad="127000" dist="572" dir="5400000">
              <a:srgbClr val="101A45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14400" y="4005072"/>
            <a:ext cx="402336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4400" y="4005072"/>
            <a:ext cx="402336" cy="402336"/>
          </a:xfrm>
          <a:prstGeom prst="ellipse">
            <a:avLst/>
          </a:prstGeom>
          <a:solidFill>
            <a:srgbClr val="8E44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4005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03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508760" y="3877056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Стратегии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251960" y="3877056"/>
            <a:ext cx="70253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Восемь подходов, из которых собирается программа сообщества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" y="4663440"/>
            <a:ext cx="10911535" cy="658368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9525">
            <a:solidFill>
              <a:srgbClr val="DFE5F0"/>
            </a:solidFill>
            <a:prstDash val="solid"/>
          </a:ln>
          <a:effectLst>
            <a:outerShdw sx="100000" sy="100000" kx="0" ky="0" algn="bl" rotWithShape="0" blurRad="127000" dist="572" dir="5400000">
              <a:srgbClr val="101A45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14400" y="4791456"/>
            <a:ext cx="402336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4400" y="4791456"/>
            <a:ext cx="402336" cy="40233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47914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04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508760" y="466344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Механики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251960" y="4663440"/>
            <a:ext cx="70253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Каталог из 33 инструментов: прототип, ресурс, метрика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40080" y="5449824"/>
            <a:ext cx="10911535" cy="658368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9525">
            <a:solidFill>
              <a:srgbClr val="DFE5F0"/>
            </a:solidFill>
            <a:prstDash val="solid"/>
          </a:ln>
          <a:effectLst>
            <a:outerShdw sx="100000" sy="100000" kx="0" ky="0" algn="bl" rotWithShape="0" blurRad="127000" dist="572" dir="5400000">
              <a:srgbClr val="101A45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14400" y="5577840"/>
            <a:ext cx="402336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14400" y="5577840"/>
            <a:ext cx="402336" cy="402336"/>
          </a:xfrm>
          <a:prstGeom prst="ellipse">
            <a:avLst/>
          </a:prstGeom>
          <a:solidFill>
            <a:srgbClr val="E67E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5577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05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508760" y="5449824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Метрики и риски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4251960" y="5449824"/>
            <a:ext cx="70253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Что считать и где мировые практики ломались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11002975" y="63367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1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0080" y="63367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3A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BI Service · Обзор мировых практик · 2026</a:t>
            </a:r>
            <a:endParaRPr lang="en-US" sz="950" dirty="0"/>
          </a:p>
        </p:txBody>
      </p:sp>
      <p:pic>
        <p:nvPicPr>
          <p:cNvPr id="37" name="Image 0" descr="assets/big-life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70287" y="384048"/>
            <a:ext cx="86868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6FCBF1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ГЛАВНЫЙ СДВИГ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91153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03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Парк — это не территория,</a:t>
            </a:r>
            <a:endParaRPr lang="en-US" sz="3100" dirty="0"/>
          </a:p>
          <a:p>
            <a:pPr indent="0" marL="0">
              <a:lnSpc>
                <a:spcPts val="3503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а социальная инфраструктура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2304288"/>
            <a:ext cx="5760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C6CEE4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Ключевой сдвиг последних 15 лет: общественное пространство перестали считать объектом благоустройства и стали считать инфраструктурой социальных связей.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3401568"/>
            <a:ext cx="5760720" cy="1243584"/>
          </a:xfrm>
          <a:prstGeom prst="roundRect">
            <a:avLst>
              <a:gd name="adj" fmla="val 10294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354787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FCBF1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Эрик Клиненберг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32688" y="3822192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B9C4D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Social infrastructure — места, которые определяют, будут ли вообще формироваться связи: библиотеки, школы, площадки, парки. Их качество влияет на неравенство и устойчивость сообществ к кризисам.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4736592"/>
            <a:ext cx="5760720" cy="1243584"/>
          </a:xfrm>
          <a:prstGeom prst="roundRect">
            <a:avLst>
              <a:gd name="adj" fmla="val 10294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4882896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FCBF1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Рэй Олденбург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32688" y="5157216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B9C4D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«Третье место» — среда вне дома и работы, где люди встречаются неформально и регулярно. Без неё горизонтальные связи не образуются.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0" y="2304288"/>
            <a:ext cx="4690872" cy="3749040"/>
          </a:xfrm>
          <a:prstGeom prst="roundRect">
            <a:avLst>
              <a:gd name="adj" fmla="val 3415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78040" y="26060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FCBF1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ЧТО ЭТО ЗНАЧИТ ДЛЯ ДЕВЕЛОПЕРА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178040" y="2971800"/>
            <a:ext cx="4114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Двор и парк — не «озеленение», а производственная площадка сообщества.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178040" y="4370832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i="1" dirty="0">
                <a:solidFill>
                  <a:srgbClr val="6FCBF1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Если её не программировать —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i="1" dirty="0">
                <a:solidFill>
                  <a:srgbClr val="6FCBF1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она производит пустоту.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178040" y="5102352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9FB0D4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Исследования подтверждают: доступ к социальной инфраструктуре положительно связан с социальной сплочённостью и субъективным благополучием.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1002975" y="63367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0C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63367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0C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BI Service · Обзор мировых практик · 2026</a:t>
            </a:r>
            <a:endParaRPr lang="en-US" sz="950" dirty="0"/>
          </a:p>
        </p:txBody>
      </p:sp>
      <p:pic>
        <p:nvPicPr>
          <p:cNvPr id="18" name="Image 0" descr="assets/big-life-logo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0287" y="384048"/>
            <a:ext cx="86868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009FE3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РАМКА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911535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729"/>
              </a:lnSpc>
              <a:buNone/>
            </a:pPr>
            <a:r>
              <a:rPr lang="en-US" sz="3300" b="1" dirty="0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Три слоя управления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664208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За каждый слой отвечают разные люди и разные бюджеты. Главная ошибка — вкладывать только в первый слой и ждать эффектов третьего.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395728"/>
            <a:ext cx="7818120" cy="987552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9525">
            <a:solidFill>
              <a:srgbClr val="DFE5F0"/>
            </a:solidFill>
            <a:prstDash val="solid"/>
          </a:ln>
          <a:effectLst>
            <a:outerShdw sx="100000" sy="100000" kx="0" ky="0" algn="bl" rotWithShape="0" blurRad="127000" dist="572" dir="5400000">
              <a:srgbClr val="101A45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633472"/>
            <a:ext cx="987552" cy="512064"/>
          </a:xfrm>
          <a:prstGeom prst="roundRect">
            <a:avLst>
              <a:gd name="adj" fmla="val 17857"/>
            </a:avLst>
          </a:prstGeom>
          <a:solidFill>
            <a:srgbClr val="27AE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2633472"/>
            <a:ext cx="987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СЛОЙ 3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057400" y="256032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Сообщество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057400" y="2880360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Кто здесь «свои»? Лидеры, волонтёры, соседские связи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126480" y="257860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8A93A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Самое дешёвое и самое медленное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3529584"/>
            <a:ext cx="7818120" cy="987552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9525">
            <a:solidFill>
              <a:srgbClr val="DFE5F0"/>
            </a:solidFill>
            <a:prstDash val="solid"/>
          </a:ln>
          <a:effectLst>
            <a:outerShdw sx="100000" sy="100000" kx="0" ky="0" algn="bl" rotWithShape="0" blurRad="127000" dist="572" dir="5400000">
              <a:srgbClr val="101A45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96112" y="3767328"/>
            <a:ext cx="987552" cy="512064"/>
          </a:xfrm>
          <a:prstGeom prst="roundRect">
            <a:avLst>
              <a:gd name="adj" fmla="val 17857"/>
            </a:avLst>
          </a:prstGeom>
          <a:solidFill>
            <a:srgbClr val="009FE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3767328"/>
            <a:ext cx="987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СЛОЙ 2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057400" y="3694176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Программа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057400" y="4014216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Что происходит по расписанию? События, кружки, ритуалы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126480" y="3712464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8A93A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Средняя стоимость, быстрый эффект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4663440"/>
            <a:ext cx="7818120" cy="987552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9525">
            <a:solidFill>
              <a:srgbClr val="DFE5F0"/>
            </a:solidFill>
            <a:prstDash val="solid"/>
          </a:ln>
          <a:effectLst>
            <a:outerShdw sx="100000" sy="100000" kx="0" ky="0" algn="bl" rotWithShape="0" blurRad="127000" dist="572" dir="5400000">
              <a:srgbClr val="101A45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96112" y="4901184"/>
            <a:ext cx="987552" cy="512064"/>
          </a:xfrm>
          <a:prstGeom prst="roundRect">
            <a:avLst>
              <a:gd name="adj" fmla="val 17857"/>
            </a:avLst>
          </a:prstGeom>
          <a:solidFill>
            <a:srgbClr val="2839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112" y="4901184"/>
            <a:ext cx="987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СЛОЙ 1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057400" y="482803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Пространство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057400" y="5148072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Что здесь стоит? Скамейки, свет, покрытие, туалеты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126480" y="48463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8A93A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Самое дорогое; без слоёв 2–3 эффект выветривается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732520" y="2395728"/>
            <a:ext cx="2816352" cy="3383280"/>
          </a:xfrm>
          <a:prstGeom prst="roundRect">
            <a:avLst>
              <a:gd name="adj" fmla="val 4545"/>
            </a:avLst>
          </a:prstGeom>
          <a:solidFill>
            <a:srgbClr val="1B2A6E"/>
          </a:solidFill>
          <a:ln w="9525">
            <a:solidFill>
              <a:srgbClr val="DFE5F0"/>
            </a:solidFill>
            <a:prstDash val="solid"/>
          </a:ln>
          <a:effectLst>
            <a:outerShdw sx="100000" sy="100000" kx="0" ky="0" algn="bl" rotWithShape="0" blurRad="127000" dist="572" dir="5400000">
              <a:srgbClr val="101A45">
                <a:alpha val="7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006840" y="26700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FCBF1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ПРИНЦИП PPS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9006840" y="30175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«Money Is</a:t>
            </a:r>
            <a:endParaRPr lang="en-US" sz="19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Not the Issue»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9006840" y="4041648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6CEE4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Вовлечённость сообщества снижает издержки эффективнее, чем большой капитальный бюджет.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006840" y="52303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FA0C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Project for Public Spaces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1002975" y="63367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3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0080" y="63367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3A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BI Service · Обзор мировых практик · 2026</a:t>
            </a:r>
            <a:endParaRPr lang="en-US" sz="950" dirty="0"/>
          </a:p>
        </p:txBody>
      </p:sp>
      <p:pic>
        <p:nvPicPr>
          <p:cNvPr id="30" name="Image 0" descr="assets/big-life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70287" y="384048"/>
            <a:ext cx="86868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009FE3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РАМКА · ЦИФРЫ ДЛЯ ЗАЩИТЫ БЮДЖЕТА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911535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729"/>
              </a:lnSpc>
              <a:buNone/>
            </a:pPr>
            <a:r>
              <a:rPr lang="en-US" sz="3300" b="1" dirty="0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Что говорит доказательная база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578608" cy="2487168"/>
          </a:xfrm>
          <a:prstGeom prst="roundRect">
            <a:avLst>
              <a:gd name="adj" fmla="val 5147"/>
            </a:avLst>
          </a:prstGeom>
          <a:solidFill>
            <a:srgbClr val="FFFFFF"/>
          </a:solidFill>
          <a:ln w="9525">
            <a:solidFill>
              <a:srgbClr val="DFE5F0"/>
            </a:solidFill>
            <a:prstDash val="solid"/>
          </a:ln>
          <a:effectLst>
            <a:outerShdw sx="100000" sy="100000" kx="0" ky="0" algn="bl" rotWithShape="0" blurRad="127000" dist="572" dir="5400000">
              <a:srgbClr val="101A45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96112" y="2212848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7AE60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×3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96112" y="301752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Каждый вложенный в парки доллар возвращает не менее трёх долларов локальных экономических эффектов в год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96112" y="40965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3A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Trust for Public Land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410712" y="1965960"/>
            <a:ext cx="2578608" cy="2487168"/>
          </a:xfrm>
          <a:prstGeom prst="roundRect">
            <a:avLst>
              <a:gd name="adj" fmla="val 5147"/>
            </a:avLst>
          </a:prstGeom>
          <a:solidFill>
            <a:srgbClr val="FFFFFF"/>
          </a:solidFill>
          <a:ln w="9525">
            <a:solidFill>
              <a:srgbClr val="DFE5F0"/>
            </a:solidFill>
            <a:prstDash val="solid"/>
          </a:ln>
          <a:effectLst>
            <a:outerShdw sx="100000" sy="100000" kx="0" ky="0" algn="bl" rotWithShape="0" blurRad="127000" dist="572" dir="5400000">
              <a:srgbClr val="101A45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66744" y="2212848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DADE2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71 %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66744" y="301752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Используют парки, чтобы увеличить физическую активность. 61% — снять стресс, 46% — провести время с семьёй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66744" y="40965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3A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Trust for Public Land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181344" y="1965960"/>
            <a:ext cx="2578608" cy="2487168"/>
          </a:xfrm>
          <a:prstGeom prst="roundRect">
            <a:avLst>
              <a:gd name="adj" fmla="val 5147"/>
            </a:avLst>
          </a:prstGeom>
          <a:solidFill>
            <a:srgbClr val="FFFFFF"/>
          </a:solidFill>
          <a:ln w="9525">
            <a:solidFill>
              <a:srgbClr val="DFE5F0"/>
            </a:solidFill>
            <a:prstDash val="solid"/>
          </a:ln>
          <a:effectLst>
            <a:outerShdw sx="100000" sy="100000" kx="0" ky="0" algn="bl" rotWithShape="0" blurRad="127000" dist="572" dir="5400000">
              <a:srgbClr val="101A45">
                <a:alpha val="7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37376" y="2212848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9FE3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300 м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437376" y="301752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Максимальная рекомендуемая дистанция до зелёного пространства площадью от 1 га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37376" y="40965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3A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Европейское бюро ВОЗ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951976" y="1965960"/>
            <a:ext cx="2578608" cy="2487168"/>
          </a:xfrm>
          <a:prstGeom prst="roundRect">
            <a:avLst>
              <a:gd name="adj" fmla="val 5147"/>
            </a:avLst>
          </a:prstGeom>
          <a:solidFill>
            <a:srgbClr val="FFFFFF"/>
          </a:solidFill>
          <a:ln w="9525">
            <a:solidFill>
              <a:srgbClr val="DFE5F0"/>
            </a:solidFill>
            <a:prstDash val="solid"/>
          </a:ln>
          <a:effectLst>
            <a:outerShdw sx="100000" sy="100000" kx="0" ky="0" algn="bl" rotWithShape="0" blurRad="127000" dist="572" dir="5400000">
              <a:srgbClr val="101A45">
                <a:alpha val="7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08008" y="2212848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E44AD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85 %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9208008" y="301752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Уровень принятия «зелёного назначения», когда врач предлагает его пациенту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208008" y="40965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3A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NHS England, 7 пилотов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40080" y="4690872"/>
            <a:ext cx="10911535" cy="1234440"/>
          </a:xfrm>
          <a:prstGeom prst="roundRect">
            <a:avLst>
              <a:gd name="adj" fmla="val 10370"/>
            </a:avLst>
          </a:prstGeom>
          <a:solidFill>
            <a:srgbClr val="1B2A6E"/>
          </a:solidFill>
          <a:ln w="9525">
            <a:solidFill>
              <a:srgbClr val="DFE5F0"/>
            </a:solidFill>
            <a:prstDash val="solid"/>
          </a:ln>
          <a:effectLst>
            <a:outerShdw sx="100000" sy="100000" kx="0" ky="0" algn="bl" rotWithShape="0" blurRad="127000" dist="572" dir="5400000">
              <a:srgbClr val="101A45">
                <a:alpha val="7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60120" y="48646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FCBF1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ПРАВИЛО 3–30–300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60120" y="5193792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920240" y="519379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6CEE4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дерева видно из окна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069080" y="5193792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30 %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029200" y="519379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6CEE4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кроновое покрытие района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178040" y="5193792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300 м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8138160" y="519379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6CEE4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до ближайшего зелёного пространства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60120" y="5687568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FA0C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Оговорка: данные по кроновому покрытию сильные, по видимости деревьев и доступу — смешанные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002975" y="63367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0080" y="63367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3A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BI Service · Обзор мировых практик · 2026</a:t>
            </a:r>
            <a:endParaRPr lang="en-US" sz="950" dirty="0"/>
          </a:p>
        </p:txBody>
      </p:sp>
      <p:pic>
        <p:nvPicPr>
          <p:cNvPr id="31" name="Image 0" descr="assets/big-life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70287" y="384048"/>
            <a:ext cx="86868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2588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009FE3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01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640080" y="2761488"/>
            <a:ext cx="7680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Модели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управления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772400" y="20574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CEE4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Кто владеет и кто управляет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452360" y="2231136"/>
            <a:ext cx="118872" cy="118872"/>
          </a:xfrm>
          <a:prstGeom prst="ellipse">
            <a:avLst/>
          </a:prstGeom>
          <a:solidFill>
            <a:srgbClr val="009FE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0" y="262432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CEE4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Откуда берутся деньги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452360" y="2798064"/>
            <a:ext cx="118872" cy="118872"/>
          </a:xfrm>
          <a:prstGeom prst="ellipse">
            <a:avLst/>
          </a:prstGeom>
          <a:solidFill>
            <a:srgbClr val="009FE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0" y="319125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CEE4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Что копировать, а что нет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452360" y="3364992"/>
            <a:ext cx="118872" cy="118872"/>
          </a:xfrm>
          <a:prstGeom prst="ellipse">
            <a:avLst/>
          </a:prstGeom>
          <a:solidFill>
            <a:srgbClr val="009FE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0" y="375818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CEE4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Матрица выбора модели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452360" y="3931920"/>
            <a:ext cx="118872" cy="118872"/>
          </a:xfrm>
          <a:prstGeom prst="ellipse">
            <a:avLst/>
          </a:prstGeom>
          <a:solidFill>
            <a:srgbClr val="009FE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002975" y="63367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0C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5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63367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0C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BI Service · Обзор мировых практик · 2026</a:t>
            </a:r>
            <a:endParaRPr lang="en-US" sz="950" dirty="0"/>
          </a:p>
        </p:txBody>
      </p:sp>
      <p:pic>
        <p:nvPicPr>
          <p:cNvPr id="14" name="Image 0" descr="assets/big-life-logo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0287" y="384048"/>
            <a:ext cx="86868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009FE3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МОДЕЛИ УПРАВЛЕНИЯ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911535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729"/>
              </a:lnSpc>
              <a:buNone/>
            </a:pPr>
            <a:r>
              <a:rPr lang="en-US" sz="3300" b="1" dirty="0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Семь способов ответить «кто хозяин места»</a:t>
            </a:r>
            <a:endParaRPr lang="en-US" sz="3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74520"/>
          <a:ext cx="10911535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1965960"/>
                <a:gridCol w="1965960"/>
                <a:gridCol w="2240280"/>
                <a:gridCol w="2221992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Модель</a:t>
                      </a:r>
                      <a:endParaRPr lang="en-US" sz="1050" dirty="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Управляет</a:t>
                      </a:r>
                      <a:endParaRPr lang="en-US" sz="1050" dirty="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Деньги</a:t>
                      </a:r>
                      <a:endParaRPr lang="en-US" sz="1050" dirty="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Сильная сторона</a:t>
                      </a:r>
                      <a:endParaRPr lang="en-US" sz="1050" dirty="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Слабая сторона</a:t>
                      </a:r>
                      <a:endParaRPr lang="en-US" sz="1050" dirty="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E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A6E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Муниципальный отдел</a:t>
                      </a:r>
                      <a:endParaRPr lang="en-US" sz="1000" dirty="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468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Город</a:t>
                      </a:r>
                      <a:endParaRPr lang="en-US" sz="1000" dirty="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468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Бюджет</a:t>
                      </a:r>
                      <a:endParaRPr lang="en-US" sz="1000" dirty="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468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Подотчётность, равномерность</a:t>
                      </a:r>
                      <a:endParaRPr lang="en-US" sz="1000" dirty="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468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Медленно, слабое программирование</a:t>
                      </a:r>
                      <a:endParaRPr lang="en-US" sz="1000" dirty="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A6E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Conservancy · Центральный парк</a:t>
                      </a:r>
                      <a:endParaRPr lang="en-US" sz="1000" dirty="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468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НКО по договору</a:t>
                      </a:r>
                      <a:endParaRPr lang="en-US" sz="1000" dirty="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468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Филантропия, эндаумент</a:t>
                      </a:r>
                      <a:endParaRPr lang="en-US" sz="1000" dirty="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468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Качество, длинные деньги</a:t>
                      </a:r>
                      <a:endParaRPr lang="en-US" sz="1000" dirty="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468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Только для флагманов, риск неравенства</a:t>
                      </a:r>
                      <a:endParaRPr lang="en-US" sz="1000" dirty="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A6E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BID · Брайант-парк</a:t>
                      </a:r>
                      <a:endParaRPr lang="en-US" sz="1000" dirty="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468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НКО на сборе с собственников</a:t>
                      </a:r>
                      <a:endParaRPr lang="en-US" sz="1000" dirty="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468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Обязательный сбор, аренда</a:t>
                      </a:r>
                      <a:endParaRPr lang="en-US" sz="1000" dirty="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468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Самоокупаемость</a:t>
                      </a:r>
                      <a:endParaRPr lang="en-US" sz="1000" dirty="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468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Нужна плотная коммерция вокруг</a:t>
                      </a:r>
                      <a:endParaRPr lang="en-US" sz="1000" dirty="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A6E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Park-PFI · Япония</a:t>
                      </a:r>
                      <a:endParaRPr lang="en-US" sz="1000" dirty="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468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Частный оператор</a:t>
                      </a:r>
                      <a:endParaRPr lang="en-US" sz="1000" dirty="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468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Доход от коммерции в парке</a:t>
                      </a:r>
                      <a:endParaRPr lang="en-US" sz="1000" dirty="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468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Снимает нагрузку с бюджета</a:t>
                      </a:r>
                      <a:endParaRPr lang="en-US" sz="1000" dirty="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468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Вытесняет некоммерческие активности</a:t>
                      </a:r>
                      <a:endParaRPr lang="en-US" sz="1000" dirty="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A6E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Friends of · UK, Сингапур</a:t>
                      </a:r>
                      <a:endParaRPr lang="en-US" sz="1000" dirty="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468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Город и жители вместе</a:t>
                      </a:r>
                      <a:endParaRPr lang="en-US" sz="1000" dirty="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468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Бюджет, волонтёры, гранты</a:t>
                      </a:r>
                      <a:endParaRPr lang="en-US" sz="1000" dirty="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468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Дёшево, высокая лояльность</a:t>
                      </a:r>
                      <a:endParaRPr lang="en-US" sz="1000" dirty="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468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Нужна поддержка, риск выгорания</a:t>
                      </a:r>
                      <a:endParaRPr lang="en-US" sz="1000" dirty="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A6E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Right to Challenge · NL</a:t>
                      </a:r>
                      <a:endParaRPr lang="en-US" sz="1000" dirty="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468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Жители</a:t>
                      </a:r>
                      <a:endParaRPr lang="en-US" sz="1000" dirty="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468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Переданный бюджет функции</a:t>
                      </a:r>
                      <a:endParaRPr lang="en-US" sz="1000" dirty="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468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Максимальная субъектность</a:t>
                      </a:r>
                      <a:endParaRPr lang="en-US" sz="1000" dirty="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468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Юридически сложно, плохо масштабируется</a:t>
                      </a:r>
                      <a:endParaRPr lang="en-US" sz="1000" dirty="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A6E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Девелоперская</a:t>
                      </a:r>
                      <a:endParaRPr lang="en-US" sz="1000" dirty="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468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УК и ассоциация собственников</a:t>
                      </a:r>
                      <a:endParaRPr lang="en-US" sz="1000" dirty="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468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Взносы, сервисный сбор</a:t>
                      </a:r>
                      <a:endParaRPr lang="en-US" sz="1000" dirty="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468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Управляемость, единый стандарт</a:t>
                      </a:r>
                      <a:endParaRPr lang="en-US" sz="1000" dirty="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468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Проблема передачи власти жителям</a:t>
                      </a:r>
                      <a:endParaRPr lang="en-US" sz="1000" dirty="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002975" y="63367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40080" y="63367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3A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BI Service · Обзор мировых практик · 2026</a:t>
            </a:r>
            <a:endParaRPr lang="en-US" sz="950" dirty="0"/>
          </a:p>
        </p:txBody>
      </p:sp>
      <p:pic>
        <p:nvPicPr>
          <p:cNvPr id="7" name="Image 0" descr="assets/big-life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70287" y="384048"/>
            <a:ext cx="86868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009FE3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МОДЕЛИ УПРАВЛЕНИЯ · КЕЙСЫ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911535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729"/>
              </a:lnSpc>
              <a:buNone/>
            </a:pPr>
            <a:r>
              <a:rPr lang="en-US" sz="3300" b="1" dirty="0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Как это работает на практике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12664" cy="411480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 w="9525">
            <a:solidFill>
              <a:srgbClr val="DFE5F0"/>
            </a:solidFill>
            <a:prstDash val="solid"/>
          </a:ln>
          <a:effectLst>
            <a:outerShdw sx="100000" sy="100000" kx="0" ky="0" algn="bl" rotWithShape="0" blurRad="127000" dist="572" dir="5400000">
              <a:srgbClr val="101A45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2148840"/>
            <a:ext cx="1234440" cy="310896"/>
          </a:xfrm>
          <a:prstGeom prst="roundRect">
            <a:avLst>
              <a:gd name="adj" fmla="val 26471"/>
            </a:avLst>
          </a:prstGeom>
          <a:solidFill>
            <a:srgbClr val="2980B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214884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CONSERVANCY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32688" y="2560320"/>
            <a:ext cx="4727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Центральный парк, Нью-Йорк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32688" y="2898648"/>
            <a:ext cx="4727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A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НКО управляет по договору с городом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32688" y="3310128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980B9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~85 %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231136" y="3310128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операционного бюджета парка привлекает Conservancy (данные PPS)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32688" y="3968496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980B9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Город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231136" y="3968496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остаётся собственником; комиссар по паркам — финальная инстанция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32688" y="4626864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980B9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Договор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231136" y="4626864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прописывает измеримые стандарты сервиса, а не «партнёрство вообще»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32688" y="5321808"/>
            <a:ext cx="4727448" cy="457200"/>
          </a:xfrm>
          <a:prstGeom prst="roundRect">
            <a:avLst>
              <a:gd name="adj" fmla="val 18000"/>
            </a:avLst>
          </a:prstGeom>
          <a:solidFill>
            <a:srgbClr val="EAF1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78992" y="5321808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Модель требует критической массы доноров рядом. Для рядового двора её нет.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36208" y="1874520"/>
            <a:ext cx="5312664" cy="411480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 w="9525">
            <a:solidFill>
              <a:srgbClr val="DFE5F0"/>
            </a:solidFill>
            <a:prstDash val="solid"/>
          </a:ln>
          <a:effectLst>
            <a:outerShdw sx="100000" sy="100000" kx="0" ky="0" algn="bl" rotWithShape="0" blurRad="127000" dist="572" dir="5400000">
              <a:srgbClr val="101A45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28816" y="2148840"/>
            <a:ext cx="1234440" cy="310896"/>
          </a:xfrm>
          <a:prstGeom prst="roundRect">
            <a:avLst>
              <a:gd name="adj" fmla="val 26471"/>
            </a:avLst>
          </a:prstGeom>
          <a:solidFill>
            <a:srgbClr val="27AE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28816" y="214884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BID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528816" y="2560320"/>
            <a:ext cx="4727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Брайант-парк, Нью-Йорк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528816" y="2898648"/>
            <a:ext cx="4727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A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Публичный, частно управляемый, самоокупаемый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28816" y="3310128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$2,9 млн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827264" y="3310128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операционный бюджет: сбор с собственников + аренда + события (данные 2000 г.)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528816" y="3968496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~55 чел.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827264" y="3968496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летний штат: безопасность, санитария, садоводство, события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528816" y="4626864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2 000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827264" y="4626864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переносных стульев; 400 замен в год, 6–8 краж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528816" y="5321808"/>
            <a:ext cx="4727448" cy="457200"/>
          </a:xfrm>
          <a:prstGeom prst="roundRect">
            <a:avLst>
              <a:gd name="adj" fmla="val 18000"/>
            </a:avLst>
          </a:prstGeom>
          <a:solidFill>
            <a:srgbClr val="EAF1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75120" y="5321808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Главная проблема управляющих — выбрать, какие события проводить: заявок больше, чем слотов.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002975" y="63367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7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0080" y="63367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3A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BI Service · Обзор мировых практик · 2026</a:t>
            </a:r>
            <a:endParaRPr lang="en-US" sz="950" dirty="0"/>
          </a:p>
        </p:txBody>
      </p:sp>
      <p:pic>
        <p:nvPicPr>
          <p:cNvPr id="32" name="Image 0" descr="assets/big-life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70287" y="384048"/>
            <a:ext cx="86868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009FE3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МОДЕЛИ УПРАВЛЕНИЯ · КЕЙСЫ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911535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729"/>
              </a:lnSpc>
              <a:buNone/>
            </a:pPr>
            <a:r>
              <a:rPr lang="en-US" sz="3300" b="1" dirty="0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Обмен с бизнесом и опора на жителей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12664" cy="411480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 w="9525">
            <a:solidFill>
              <a:srgbClr val="DFE5F0"/>
            </a:solidFill>
            <a:prstDash val="solid"/>
          </a:ln>
          <a:effectLst>
            <a:outerShdw sx="100000" sy="100000" kx="0" ky="0" algn="bl" rotWithShape="0" blurRad="127000" dist="572" dir="5400000">
              <a:srgbClr val="101A45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32688" y="212140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09FE3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ЯПОНИЯ · PARK-PFI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932688" y="2432304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b="1" dirty="0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Коммерция оплачивает</a:t>
            </a:r>
            <a:endParaRPr lang="en-US" sz="17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700" b="1" dirty="0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некоммерческое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32688" y="320040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Поправка к Закону о городских парках, 15 июня 2017. Город на конкурсе выбирает оператора: он ставит кафе и магазины, а прибыль направляет на дорожки, площади и озеленение.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32688" y="409651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b="1" dirty="0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Результаты по 45 паркам
</a:t>
            </a:r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Снижение нагрузки на бюджет · оживление локальной экономики · рост локальной активности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32688" y="4846320"/>
            <a:ext cx="4727448" cy="914400"/>
          </a:xfrm>
          <a:prstGeom prst="roundRect">
            <a:avLst>
              <a:gd name="adj" fmla="val 9000"/>
            </a:avLst>
          </a:prstGeom>
          <a:solidFill>
            <a:srgbClr val="FDF0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484632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C0631A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Зафиксированная проблема. 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A542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Коммерческий оператор перестаёт учитывать использование парка сообществами. Вывод: квоту бесплатных часов и площадей нужно вписывать в договор.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36208" y="1874520"/>
            <a:ext cx="5312664" cy="411480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 w="9525">
            <a:solidFill>
              <a:srgbClr val="DFE5F0"/>
            </a:solidFill>
            <a:prstDash val="solid"/>
          </a:ln>
          <a:effectLst>
            <a:outerShdw sx="100000" sy="100000" kx="0" ky="0" algn="bl" rotWithShape="0" blurRad="127000" dist="572" dir="5400000">
              <a:srgbClr val="101A45">
                <a:alpha val="7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28816" y="212140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27AE60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СИНГАПУР И ВЕЛИКОБРИТАНИЯ · FRIENDS OF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528816" y="2432304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b="1" dirty="0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Государство не разрешает,</a:t>
            </a:r>
            <a:endParaRPr lang="en-US" sz="17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700" b="1" dirty="0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а обслуживает активность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28816" y="3218688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2 000+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653528" y="321868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садоводческих групп в программе Community in Bloom (с 2005 г.)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28816" y="3785616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48 000+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653528" y="3785616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участников всех возрастов; методики, обучение, конкурсы, амбассадоры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528816" y="4352544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14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653528" y="4352544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сообществ Friends of the Parks, каждое со своим фокусом (с 2016 г.)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528816" y="4846320"/>
            <a:ext cx="4727448" cy="914400"/>
          </a:xfrm>
          <a:prstGeom prst="roundRect">
            <a:avLst>
              <a:gd name="adj" fmla="val 9000"/>
            </a:avLst>
          </a:prstGeom>
          <a:solidFill>
            <a:srgbClr val="EAF1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93408" y="484632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Главный урок Nesta (UK). 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Friends-группы требуют значительной поддержки, обучения и координации. Это не бесплатный ресурс, а ресурс, требующий вложений в людей.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1002975" y="63367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8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63367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3A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BI Service · Обзор мировых практик · 2026</a:t>
            </a:r>
            <a:endParaRPr lang="en-US" sz="950" dirty="0"/>
          </a:p>
        </p:txBody>
      </p:sp>
      <p:pic>
        <p:nvPicPr>
          <p:cNvPr id="24" name="Image 0" descr="assets/big-life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70287" y="384048"/>
            <a:ext cx="86868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009FE3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МОДЕЛИ УПРАВЛЕНИЯ · НАШ СЛУЧАЙ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911535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729"/>
              </a:lnSpc>
              <a:buNone/>
            </a:pPr>
            <a:r>
              <a:rPr lang="en-US" sz="3300" b="1" dirty="0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Девелоперская модель: спроектировать выход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664208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Роль девелопера в зрелой практике формулируется как community steward — хранитель долгосрочного видения качества.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423160"/>
            <a:ext cx="2578608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9525">
            <a:solidFill>
              <a:srgbClr val="DFE5F0"/>
            </a:solidFill>
            <a:prstDash val="solid"/>
          </a:ln>
          <a:effectLst>
            <a:outerShdw sx="100000" sy="100000" kx="0" ky="0" algn="bl" rotWithShape="0" blurRad="127000" dist="572" dir="5400000">
              <a:srgbClr val="101A45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670048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6112" y="2670048"/>
            <a:ext cx="384048" cy="384048"/>
          </a:xfrm>
          <a:prstGeom prst="ellipse">
            <a:avLst/>
          </a:prstGeom>
          <a:solidFill>
            <a:srgbClr val="009FE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670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89888" y="267004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8A93A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Фаза 1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96112" y="318211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Полный контроль девелопера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96112" y="36576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Дизайн-код, стандарт сервиса, первые события за счёт компании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 rot="5400000">
            <a:off x="3255264" y="3200400"/>
            <a:ext cx="146304" cy="146304"/>
          </a:xfrm>
          <a:prstGeom prst="triangle">
            <a:avLst/>
          </a:prstGeom>
          <a:solidFill>
            <a:srgbClr val="8A93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10712" y="2423160"/>
            <a:ext cx="2578608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9525">
            <a:solidFill>
              <a:srgbClr val="DFE5F0"/>
            </a:solidFill>
            <a:prstDash val="solid"/>
          </a:ln>
          <a:effectLst>
            <a:outerShdw sx="100000" sy="100000" kx="0" ky="0" algn="bl" rotWithShape="0" blurRad="127000" dist="572" dir="5400000">
              <a:srgbClr val="101A45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66744" y="2670048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66744" y="2670048"/>
            <a:ext cx="384048" cy="384048"/>
          </a:xfrm>
          <a:prstGeom prst="ellipse">
            <a:avLst/>
          </a:prstGeom>
          <a:solidFill>
            <a:srgbClr val="009FE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66744" y="2670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60520" y="267004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8A93A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Фаза 2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666744" y="318211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Смешанное управление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66744" y="36576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Появляются лидеры из жителей, растёт доля их инициатив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 rot="5400000">
            <a:off x="6025896" y="3200400"/>
            <a:ext cx="146304" cy="146304"/>
          </a:xfrm>
          <a:prstGeom prst="triangle">
            <a:avLst/>
          </a:prstGeom>
          <a:solidFill>
            <a:srgbClr val="8A93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81344" y="2423160"/>
            <a:ext cx="2578608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9525">
            <a:solidFill>
              <a:srgbClr val="DFE5F0"/>
            </a:solidFill>
            <a:prstDash val="solid"/>
          </a:ln>
          <a:effectLst>
            <a:outerShdw sx="100000" sy="100000" kx="0" ky="0" algn="bl" rotWithShape="0" blurRad="127000" dist="572" dir="5400000">
              <a:srgbClr val="101A45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37376" y="2670048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37376" y="2670048"/>
            <a:ext cx="384048" cy="384048"/>
          </a:xfrm>
          <a:prstGeom prst="ellipse">
            <a:avLst/>
          </a:prstGeom>
          <a:solidFill>
            <a:srgbClr val="009FE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37376" y="2670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931152" y="267004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8A93A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Фаза 3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437376" y="318211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Передача (turnover)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37376" y="36576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Контроль переходит к жителям после продажи 50–75% лотов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 rot="5400000">
            <a:off x="8796528" y="3200400"/>
            <a:ext cx="146304" cy="146304"/>
          </a:xfrm>
          <a:prstGeom prst="triangle">
            <a:avLst/>
          </a:prstGeom>
          <a:solidFill>
            <a:srgbClr val="8A93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951976" y="2423160"/>
            <a:ext cx="2578608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9525">
            <a:solidFill>
              <a:srgbClr val="DFE5F0"/>
            </a:solidFill>
            <a:prstDash val="solid"/>
          </a:ln>
          <a:effectLst>
            <a:outerShdw sx="100000" sy="100000" kx="0" ky="0" algn="bl" rotWithShape="0" blurRad="127000" dist="572" dir="5400000">
              <a:srgbClr val="101A45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208008" y="2670048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208008" y="2670048"/>
            <a:ext cx="384048" cy="38404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08008" y="2670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4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701784" y="267004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8A93A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Фаза 4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9208008" y="318211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Самостоятельность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208008" y="36576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Ассоциация ведёт программу; девелопер — партнёр, не оператор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40080" y="4553712"/>
            <a:ext cx="10911535" cy="1325880"/>
          </a:xfrm>
          <a:prstGeom prst="roundRect">
            <a:avLst>
              <a:gd name="adj" fmla="val 9655"/>
            </a:avLst>
          </a:prstGeom>
          <a:solidFill>
            <a:srgbClr val="1B2A6E"/>
          </a:solidFill>
          <a:ln w="9525">
            <a:solidFill>
              <a:srgbClr val="DFE5F0"/>
            </a:solidFill>
            <a:prstDash val="solid"/>
          </a:ln>
          <a:effectLst>
            <a:outerShdw sx="100000" sy="100000" kx="0" ky="0" algn="bl" rotWithShape="0" blurRad="127000" dist="572" dir="5400000">
              <a:srgbClr val="101A45">
                <a:alpha val="7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960120" y="473659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FCBF1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ЧТО ПЕРЕДАЁТСЯ И КОГДА ГОТОВИТЬСЯ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960120" y="5029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От 1 года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960120" y="532180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6CEE4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формируется команда передачи до собрания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480560" y="5029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Полный комплект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480560" y="532180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6CEE4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финансы, договоры, гарантии, страховки, устав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8001000" y="5029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Независимый аудит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8001000" y="532180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6CEE4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новый совет заказывает проверку передачи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11002975" y="63367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9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40080" y="63367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3A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BI Service · Обзор мировых практик · 2026</a:t>
            </a:r>
            <a:endParaRPr lang="en-US" sz="950" dirty="0"/>
          </a:p>
        </p:txBody>
      </p:sp>
      <p:pic>
        <p:nvPicPr>
          <p:cNvPr id="46" name="Image 0" descr="assets/big-life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70287" y="384048"/>
            <a:ext cx="86868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009FE3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МОДЕЛИ УПРАВЛЕНИЯ · ВЫБОР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911535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729"/>
              </a:lnSpc>
              <a:buNone/>
            </a:pPr>
            <a:r>
              <a:rPr lang="en-US" sz="3300" b="1" dirty="0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Матрица выбора модели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664208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Модель определяется не амбицией, а тем, какой ресурс у вас реально есть.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10911535" cy="548640"/>
          </a:xfrm>
          <a:prstGeom prst="roundRect">
            <a:avLst>
              <a:gd name="adj" fmla="val 23333"/>
            </a:avLst>
          </a:prstGeom>
          <a:solidFill>
            <a:srgbClr val="FFFFFF"/>
          </a:solidFill>
          <a:ln w="9525">
            <a:solidFill>
              <a:srgbClr val="DFE5F0"/>
            </a:solidFill>
            <a:prstDash val="solid"/>
          </a:ln>
          <a:effectLst>
            <a:outerShdw sx="100000" sy="100000" kx="0" ky="0" algn="bl" rotWithShape="0" blurRad="127000" dist="572" dir="5400000">
              <a:srgbClr val="101A45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33172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3A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Если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463040" y="23317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Флагманский парк и доступ к крупным донорам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 rot="5400000">
            <a:off x="6556248" y="2532888"/>
            <a:ext cx="146304" cy="146304"/>
          </a:xfrm>
          <a:prstGeom prst="triangle">
            <a:avLst/>
          </a:prstGeom>
          <a:solidFill>
            <a:srgbClr val="2980B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03720" y="2331720"/>
            <a:ext cx="43735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980B9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Conservancy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990088"/>
            <a:ext cx="10911535" cy="548640"/>
          </a:xfrm>
          <a:prstGeom prst="roundRect">
            <a:avLst>
              <a:gd name="adj" fmla="val 23333"/>
            </a:avLst>
          </a:prstGeom>
          <a:solidFill>
            <a:srgbClr val="FFFFFF"/>
          </a:solidFill>
          <a:ln w="9525">
            <a:solidFill>
              <a:srgbClr val="DFE5F0"/>
            </a:solidFill>
            <a:prstDash val="solid"/>
          </a:ln>
          <a:effectLst>
            <a:outerShdw sx="100000" sy="100000" kx="0" ky="0" algn="bl" rotWithShape="0" blurRad="127000" dist="572" dir="5400000">
              <a:srgbClr val="101A45">
                <a:alpha val="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299008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3A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Если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463040" y="299008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Плотная коммерция вокруг, коммерческие арендаторы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 rot="5400000">
            <a:off x="6556248" y="3191256"/>
            <a:ext cx="146304" cy="146304"/>
          </a:xfrm>
          <a:prstGeom prst="triangle">
            <a:avLst/>
          </a:prstGeom>
          <a:solidFill>
            <a:srgbClr val="27AE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03720" y="2990088"/>
            <a:ext cx="43735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7AE60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BID-подобный сбор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3648456"/>
            <a:ext cx="10911535" cy="548640"/>
          </a:xfrm>
          <a:prstGeom prst="roundRect">
            <a:avLst>
              <a:gd name="adj" fmla="val 23333"/>
            </a:avLst>
          </a:prstGeom>
          <a:solidFill>
            <a:srgbClr val="FFFFFF"/>
          </a:solidFill>
          <a:ln w="9525">
            <a:solidFill>
              <a:srgbClr val="DFE5F0"/>
            </a:solidFill>
            <a:prstDash val="solid"/>
          </a:ln>
          <a:effectLst>
            <a:outerShdw sx="100000" sy="100000" kx="0" ky="0" algn="bl" rotWithShape="0" blurRad="127000" dist="572" dir="5400000">
              <a:srgbClr val="101A45">
                <a:alpha val="7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14400" y="3648456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3A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Если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463040" y="3648456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Дефицит бюджета и интерес операторов общепита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 rot="5400000">
            <a:off x="6556248" y="3849624"/>
            <a:ext cx="146304" cy="146304"/>
          </a:xfrm>
          <a:prstGeom prst="triangle">
            <a:avLst/>
          </a:prstGeom>
          <a:solidFill>
            <a:srgbClr val="E67E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03720" y="3648456"/>
            <a:ext cx="43735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67E22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Park-PFI с квотой для сообщества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4306824"/>
            <a:ext cx="10911535" cy="548640"/>
          </a:xfrm>
          <a:prstGeom prst="roundRect">
            <a:avLst>
              <a:gd name="adj" fmla="val 23333"/>
            </a:avLst>
          </a:prstGeom>
          <a:solidFill>
            <a:srgbClr val="FFFFFF"/>
          </a:solidFill>
          <a:ln w="9525">
            <a:solidFill>
              <a:srgbClr val="DFE5F0"/>
            </a:solidFill>
            <a:prstDash val="solid"/>
          </a:ln>
          <a:effectLst>
            <a:outerShdw sx="100000" sy="100000" kx="0" ky="0" algn="bl" rotWithShape="0" blurRad="127000" dist="572" dir="5400000">
              <a:srgbClr val="101A45">
                <a:alpha val="7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14400" y="4306824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3A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Если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463040" y="4306824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Двор или районный сквер: много жителей, мало денег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 rot="5400000">
            <a:off x="6556248" y="4507992"/>
            <a:ext cx="146304" cy="146304"/>
          </a:xfrm>
          <a:prstGeom prst="triangle">
            <a:avLst/>
          </a:prstGeom>
          <a:solidFill>
            <a:srgbClr val="009FE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03720" y="4306824"/>
            <a:ext cx="43735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9FE3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Friends of / co-management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0080" y="4965192"/>
            <a:ext cx="10911535" cy="548640"/>
          </a:xfrm>
          <a:prstGeom prst="roundRect">
            <a:avLst>
              <a:gd name="adj" fmla="val 23333"/>
            </a:avLst>
          </a:prstGeom>
          <a:solidFill>
            <a:srgbClr val="FFFFFF"/>
          </a:solidFill>
          <a:ln w="9525">
            <a:solidFill>
              <a:srgbClr val="DFE5F0"/>
            </a:solidFill>
            <a:prstDash val="solid"/>
          </a:ln>
          <a:effectLst>
            <a:outerShdw sx="100000" sy="100000" kx="0" ky="0" algn="bl" rotWithShape="0" blurRad="127000" dist="572" dir="5400000">
              <a:srgbClr val="101A45">
                <a:alpha val="7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14400" y="4965192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3A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Если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463040" y="496519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Зрелое сообщество, готовое брать ответственность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 rot="5400000">
            <a:off x="6556248" y="5166360"/>
            <a:ext cx="146304" cy="146304"/>
          </a:xfrm>
          <a:prstGeom prst="triangle">
            <a:avLst/>
          </a:prstGeom>
          <a:solidFill>
            <a:srgbClr val="8E44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03720" y="4965192"/>
            <a:ext cx="43735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E44AD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Передача функций жителям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40080" y="5623560"/>
            <a:ext cx="10911535" cy="548640"/>
          </a:xfrm>
          <a:prstGeom prst="roundRect">
            <a:avLst>
              <a:gd name="adj" fmla="val 23333"/>
            </a:avLst>
          </a:prstGeom>
          <a:solidFill>
            <a:srgbClr val="FFFFFF"/>
          </a:solidFill>
          <a:ln w="9525">
            <a:solidFill>
              <a:srgbClr val="DFE5F0"/>
            </a:solidFill>
            <a:prstDash val="solid"/>
          </a:ln>
          <a:effectLst>
            <a:outerShdw sx="100000" sy="100000" kx="0" ky="0" algn="bl" rotWithShape="0" blurRad="127000" dist="572" dir="5400000">
              <a:srgbClr val="101A45">
                <a:alpha val="7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914400" y="562356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3A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Если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463040" y="56235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Новый ЖК на стадии заселения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 rot="5400000">
            <a:off x="6556248" y="5824728"/>
            <a:ext cx="146304" cy="146304"/>
          </a:xfrm>
          <a:prstGeom prst="triangle">
            <a:avLst/>
          </a:prstGeom>
          <a:solidFill>
            <a:srgbClr val="E74C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03720" y="5623560"/>
            <a:ext cx="43735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74C3C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Девелоперская + план передачи с первого дня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11002975" y="63367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10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0080" y="63367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3A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BI Service · Обзор мировых практик · 2026</a:t>
            </a:r>
            <a:endParaRPr lang="en-US" sz="950" dirty="0"/>
          </a:p>
        </p:txBody>
      </p:sp>
      <p:pic>
        <p:nvPicPr>
          <p:cNvPr id="37" name="Image 0" descr="assets/big-life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70287" y="384048"/>
            <a:ext cx="86868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2588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009FE3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02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640080" y="2761488"/>
            <a:ext cx="7680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Стратегии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772400" y="20574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CEE4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Плейсмейкинг и 11 принципов PPS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452360" y="2231136"/>
            <a:ext cx="118872" cy="118872"/>
          </a:xfrm>
          <a:prstGeom prst="ellipse">
            <a:avLst/>
          </a:prstGeom>
          <a:solidFill>
            <a:srgbClr val="009FE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0" y="262432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CEE4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От дефицитов к активам (ABCD)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452360" y="2798064"/>
            <a:ext cx="118872" cy="118872"/>
          </a:xfrm>
          <a:prstGeom prst="ellipse">
            <a:avLst/>
          </a:prstGeom>
          <a:solidFill>
            <a:srgbClr val="009FE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0" y="319125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CEE4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Ритм важнее масштаба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452360" y="3364992"/>
            <a:ext cx="118872" cy="118872"/>
          </a:xfrm>
          <a:prstGeom prst="ellipse">
            <a:avLst/>
          </a:prstGeom>
          <a:solidFill>
            <a:srgbClr val="009FE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0" y="375818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CEE4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Соучастие и его честные границы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452360" y="3931920"/>
            <a:ext cx="118872" cy="118872"/>
          </a:xfrm>
          <a:prstGeom prst="ellipse">
            <a:avLst/>
          </a:prstGeom>
          <a:solidFill>
            <a:srgbClr val="009FE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002975" y="63367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0C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11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63367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0C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BI Service · Обзор мировых практик · 2026</a:t>
            </a:r>
            <a:endParaRPr lang="en-US" sz="950" dirty="0"/>
          </a:p>
        </p:txBody>
      </p:sp>
      <p:pic>
        <p:nvPicPr>
          <p:cNvPr id="14" name="Image 0" descr="assets/big-life-logo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0287" y="384048"/>
            <a:ext cx="86868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009FE3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СТРАТЕГИИ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911535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729"/>
              </a:lnSpc>
              <a:buNone/>
            </a:pPr>
            <a:r>
              <a:rPr lang="en-US" sz="3300" b="1" dirty="0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Восемь подходов, из которых собирается программа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2578608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9525">
            <a:solidFill>
              <a:srgbClr val="DFE5F0"/>
            </a:solidFill>
            <a:prstDash val="solid"/>
          </a:ln>
          <a:effectLst>
            <a:outerShdw sx="100000" sy="100000" kx="0" ky="0" algn="bl" rotWithShape="0" blurRad="127000" dist="572" dir="5400000">
              <a:srgbClr val="101A45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295144"/>
            <a:ext cx="402336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2295144"/>
            <a:ext cx="402336" cy="402336"/>
          </a:xfrm>
          <a:prstGeom prst="ellipse">
            <a:avLst/>
          </a:prstGeom>
          <a:solidFill>
            <a:srgbClr val="009FE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22951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96112" y="283464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Плейсмейкинг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3300984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Место, а не дизайн: 11 принципов, Power of 10+, LQC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10712" y="2057400"/>
            <a:ext cx="2578608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9525">
            <a:solidFill>
              <a:srgbClr val="DFE5F0"/>
            </a:solidFill>
            <a:prstDash val="solid"/>
          </a:ln>
          <a:effectLst>
            <a:outerShdw sx="100000" sy="100000" kx="0" ky="0" algn="bl" rotWithShape="0" blurRad="127000" dist="572" dir="5400000">
              <a:srgbClr val="101A45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66744" y="2295144"/>
            <a:ext cx="402336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66744" y="2295144"/>
            <a:ext cx="402336" cy="40233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66744" y="22951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66744" y="283464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Идти от активов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66744" y="3300984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ABCD: спрашивать не «чего не хватает», а «что вы умеете»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81344" y="2057400"/>
            <a:ext cx="2578608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9525">
            <a:solidFill>
              <a:srgbClr val="DFE5F0"/>
            </a:solidFill>
            <a:prstDash val="solid"/>
          </a:ln>
          <a:effectLst>
            <a:outerShdw sx="100000" sy="100000" kx="0" ky="0" algn="bl" rotWithShape="0" blurRad="127000" dist="572" dir="5400000">
              <a:srgbClr val="101A45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37376" y="2295144"/>
            <a:ext cx="402336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37376" y="2295144"/>
            <a:ext cx="402336" cy="402336"/>
          </a:xfrm>
          <a:prstGeom prst="ellipse">
            <a:avLst/>
          </a:prstGeom>
          <a:solidFill>
            <a:srgbClr val="E67E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37376" y="22951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03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37376" y="283464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Программирование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37376" y="3300984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Пространство держится расписанием, а не благоустройством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951976" y="2057400"/>
            <a:ext cx="2578608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9525">
            <a:solidFill>
              <a:srgbClr val="DFE5F0"/>
            </a:solidFill>
            <a:prstDash val="solid"/>
          </a:ln>
          <a:effectLst>
            <a:outerShdw sx="100000" sy="100000" kx="0" ky="0" algn="bl" rotWithShape="0" blurRad="127000" dist="572" dir="5400000">
              <a:srgbClr val="101A45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208008" y="2295144"/>
            <a:ext cx="402336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208008" y="2295144"/>
            <a:ext cx="402336" cy="402336"/>
          </a:xfrm>
          <a:prstGeom prst="ellipse">
            <a:avLst/>
          </a:prstGeom>
          <a:solidFill>
            <a:srgbClr val="8E44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208008" y="22951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04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208008" y="283464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Соучастие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208008" y="3300984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Участие работает, когда ведёт к передаче ответственности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0080" y="4142232"/>
            <a:ext cx="2578608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9525">
            <a:solidFill>
              <a:srgbClr val="DFE5F0"/>
            </a:solidFill>
            <a:prstDash val="solid"/>
          </a:ln>
          <a:effectLst>
            <a:outerShdw sx="100000" sy="100000" kx="0" ky="0" algn="bl" rotWithShape="0" blurRad="127000" dist="572" dir="5400000">
              <a:srgbClr val="101A45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96112" y="4379976"/>
            <a:ext cx="402336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96112" y="4379976"/>
            <a:ext cx="402336" cy="402336"/>
          </a:xfrm>
          <a:prstGeom prst="ellipse">
            <a:avLst/>
          </a:prstGeom>
          <a:solidFill>
            <a:srgbClr val="E74C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96112" y="43799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05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96112" y="4919472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Регулярный ритм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96112" y="5385816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Повторяемость с низким порогом входа важнее ярких событий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410712" y="4142232"/>
            <a:ext cx="2578608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9525">
            <a:solidFill>
              <a:srgbClr val="DFE5F0"/>
            </a:solidFill>
            <a:prstDash val="solid"/>
          </a:ln>
          <a:effectLst>
            <a:outerShdw sx="100000" sy="100000" kx="0" ky="0" algn="bl" rotWithShape="0" blurRad="127000" dist="572" dir="5400000">
              <a:srgbClr val="101A45">
                <a:alpha val="7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666744" y="4379976"/>
            <a:ext cx="402336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666744" y="4379976"/>
            <a:ext cx="402336" cy="402336"/>
          </a:xfrm>
          <a:prstGeom prst="ellipse">
            <a:avLst/>
          </a:prstGeom>
          <a:solidFill>
            <a:srgbClr val="2980B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66744" y="43799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06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666744" y="4919472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Экономика места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3666744" y="5385816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Шесть источников дохода и обязательная диверсификация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181344" y="4142232"/>
            <a:ext cx="2578608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9525">
            <a:solidFill>
              <a:srgbClr val="DFE5F0"/>
            </a:solidFill>
            <a:prstDash val="solid"/>
          </a:ln>
          <a:effectLst>
            <a:outerShdw sx="100000" sy="100000" kx="0" ky="0" algn="bl" rotWithShape="0" blurRad="127000" dist="572" dir="5400000">
              <a:srgbClr val="101A45">
                <a:alpha val="7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437376" y="4379976"/>
            <a:ext cx="402336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DADE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437376" y="4379976"/>
            <a:ext cx="402336" cy="402336"/>
          </a:xfrm>
          <a:prstGeom prst="ellipse">
            <a:avLst/>
          </a:prstGeom>
          <a:solidFill>
            <a:srgbClr val="5DADE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37376" y="43799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07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437376" y="4919472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Локальное партнёрство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6437376" y="5385816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Инфраструктура партнёрств, а не разовые коллаборации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8951976" y="4142232"/>
            <a:ext cx="2578608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9525">
            <a:solidFill>
              <a:srgbClr val="DFE5F0"/>
            </a:solidFill>
            <a:prstDash val="solid"/>
          </a:ln>
          <a:effectLst>
            <a:outerShdw sx="100000" sy="100000" kx="0" ky="0" algn="bl" rotWithShape="0" blurRad="127000" dist="572" dir="5400000">
              <a:srgbClr val="101A45">
                <a:alpha val="7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9208008" y="4379976"/>
            <a:ext cx="402336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8398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208008" y="4379976"/>
            <a:ext cx="402336" cy="402336"/>
          </a:xfrm>
          <a:prstGeom prst="ellipse">
            <a:avLst/>
          </a:prstGeom>
          <a:solidFill>
            <a:srgbClr val="2839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208008" y="43799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08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9208008" y="4919472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Цифра как усилитель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9208008" y="5385816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Координация и видимость, но метрика — офлайн-действие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11002975" y="63367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12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40080" y="63367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3A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BI Service · Обзор мировых практик · 2026</a:t>
            </a:r>
            <a:endParaRPr lang="en-US" sz="950" dirty="0"/>
          </a:p>
        </p:txBody>
      </p:sp>
      <p:pic>
        <p:nvPicPr>
          <p:cNvPr id="54" name="Image 0" descr="assets/big-life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70287" y="384048"/>
            <a:ext cx="86868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009FE3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СТРАТЕГИЯ 01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911535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729"/>
              </a:lnSpc>
              <a:buNone/>
            </a:pPr>
            <a:r>
              <a:rPr lang="en-US" sz="3300" b="1" dirty="0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Плейсмейкинг: рабочие инструменты PPS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4892040" cy="411480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 w="9525">
            <a:solidFill>
              <a:srgbClr val="DFE5F0"/>
            </a:solidFill>
            <a:prstDash val="solid"/>
          </a:ln>
          <a:effectLst>
            <a:outerShdw sx="100000" sy="100000" kx="0" ky="0" algn="bl" rotWithShape="0" blurRad="127000" dist="572" dir="5400000">
              <a:srgbClr val="101A45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32688" y="210312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09FE3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ИЗ 11 ПРИНЦИПОВ — ПЯТЬ ГЛАВНЫХ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932688" y="248716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Сообщество — эксперт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32688" y="275234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Жители знают локальные таланты и критические детали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32688" y="317296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Создавайте место, а не дизайн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32688" y="343814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Помимо эстетики — посадочные места и стратегия управления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32688" y="385876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Начинайте с петуний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32688" y="412394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Быстрые дешёвые улучшения до сложных изменений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32688" y="454456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Триангулируйте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32688" y="480974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Расставляйте элементы так, чтобы они сводили людей вместе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32688" y="523036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Работа никогда не закончена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32688" y="549554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Гибкость под меняющиеся потребности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32688" y="559612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3A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+ ещё 6 принципов в отчёте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815584" y="1874520"/>
            <a:ext cx="5733288" cy="1920240"/>
          </a:xfrm>
          <a:prstGeom prst="roundRect">
            <a:avLst>
              <a:gd name="adj" fmla="val 6667"/>
            </a:avLst>
          </a:prstGeom>
          <a:solidFill>
            <a:srgbClr val="1B2A6E"/>
          </a:solidFill>
          <a:ln w="9525">
            <a:solidFill>
              <a:srgbClr val="DFE5F0"/>
            </a:solidFill>
            <a:prstDash val="solid"/>
          </a:ln>
          <a:effectLst>
            <a:outerShdw sx="100000" sy="100000" kx="0" ky="0" algn="bl" rotWithShape="0" blurRad="127000" dist="572" dir="5400000">
              <a:srgbClr val="101A45">
                <a:alpha val="7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135624" y="208483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FCBF1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POWER OF 10+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135624" y="2377440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Место должно набирать не менее 10 причин прийти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135624" y="30175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6CEE4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Где сесть · где играть · что потрогать · что послушать · что съесть · что узнать · кого встретить. Логика масштабируется: 10 причин в месте, 10 мест в районе.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815584" y="3950208"/>
            <a:ext cx="5733288" cy="2039112"/>
          </a:xfrm>
          <a:prstGeom prst="roundRect">
            <a:avLst>
              <a:gd name="adj" fmla="val 6278"/>
            </a:avLst>
          </a:prstGeom>
          <a:solidFill>
            <a:srgbClr val="FFFFFF"/>
          </a:solidFill>
          <a:ln w="9525">
            <a:solidFill>
              <a:srgbClr val="DFE5F0"/>
            </a:solidFill>
            <a:prstDash val="solid"/>
          </a:ln>
          <a:effectLst>
            <a:outerShdw sx="100000" sy="100000" kx="0" ky="0" algn="bl" rotWithShape="0" blurRad="127000" dist="572" dir="5400000">
              <a:srgbClr val="101A45">
                <a:alpha val="7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135624" y="41605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09FE3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LIGHTER, QUICKER, CHEAPER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135624" y="4462272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4213D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Строить пространство снизу вверх: от кашпо и переносной мебели до временного перекрытия проезда.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135624" y="5120640"/>
            <a:ext cx="5093208" cy="658368"/>
          </a:xfrm>
          <a:prstGeom prst="roundRect">
            <a:avLst>
              <a:gd name="adj" fmla="val 12500"/>
            </a:avLst>
          </a:prstGeom>
          <a:solidFill>
            <a:srgbClr val="EAF1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91072" y="5120640"/>
            <a:ext cx="4782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Важный нюанс. 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«Дешевле» значит сдвиг денег из капитальных вложений в программирование и управление — не «сделать дёшево».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1002975" y="63367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13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" y="63367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3A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BI Service · Обзор мировых практик · 2026</a:t>
            </a:r>
            <a:endParaRPr lang="en-US" sz="950" dirty="0"/>
          </a:p>
        </p:txBody>
      </p:sp>
      <p:pic>
        <p:nvPicPr>
          <p:cNvPr id="28" name="Image 0" descr="assets/big-life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70287" y="384048"/>
            <a:ext cx="86868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009FE3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СТРАТЕГИЯ 02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911535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729"/>
              </a:lnSpc>
              <a:buNone/>
            </a:pPr>
            <a:r>
              <a:rPr lang="en-US" sz="3300" b="1" dirty="0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От дефицитов к активам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664208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Asset-Based Community Development: у каждого есть дар, каждому есть что дать, каждому что-то небезразлично — и это его мотивация действовать.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487168"/>
            <a:ext cx="5312664" cy="3429000"/>
          </a:xfrm>
          <a:prstGeom prst="roundRect">
            <a:avLst>
              <a:gd name="adj" fmla="val 3733"/>
            </a:avLst>
          </a:prstGeom>
          <a:solidFill>
            <a:srgbClr val="FFFFFF"/>
          </a:solidFill>
          <a:ln w="9525">
            <a:solidFill>
              <a:srgbClr val="DFE5F0"/>
            </a:solidFill>
            <a:prstDash val="solid"/>
          </a:ln>
          <a:effectLst>
            <a:outerShdw sx="100000" sy="100000" kx="0" ky="0" algn="bl" rotWithShape="0" blurRad="127000" dist="572" dir="5400000">
              <a:srgbClr val="101A45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32688" y="2724912"/>
            <a:ext cx="4727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0392B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СЕРВИСНАЯ МОДЕЛЬ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932688" y="3017520"/>
            <a:ext cx="4727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«Чего вам не хватает во дворе?»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32688" y="3730752"/>
            <a:ext cx="4727448" cy="475488"/>
          </a:xfrm>
          <a:prstGeom prst="roundRect">
            <a:avLst>
              <a:gd name="adj" fmla="val 17308"/>
            </a:avLst>
          </a:prstGeom>
          <a:solidFill>
            <a:srgbClr val="FCED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" y="3730752"/>
            <a:ext cx="4434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Список претензий к застройщику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969264" y="4489704"/>
            <a:ext cx="100584" cy="10058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07008" y="4370832"/>
            <a:ext cx="4453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Жители в роли потребителей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69264" y="4855464"/>
            <a:ext cx="100584" cy="10058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07008" y="4736592"/>
            <a:ext cx="4453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Растущие ожидания к компании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69264" y="5221224"/>
            <a:ext cx="100584" cy="10058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07008" y="5102352"/>
            <a:ext cx="4453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Каждая решённая проблема рождает следующую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69264" y="5586984"/>
            <a:ext cx="100584" cy="10058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5468112"/>
            <a:ext cx="4453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Программа держится на бюджете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36208" y="2487168"/>
            <a:ext cx="5312664" cy="3429000"/>
          </a:xfrm>
          <a:prstGeom prst="roundRect">
            <a:avLst>
              <a:gd name="adj" fmla="val 3733"/>
            </a:avLst>
          </a:prstGeom>
          <a:solidFill>
            <a:srgbClr val="FFFFFF"/>
          </a:solidFill>
          <a:ln w="9525">
            <a:solidFill>
              <a:srgbClr val="DFE5F0"/>
            </a:solidFill>
            <a:prstDash val="solid"/>
          </a:ln>
          <a:effectLst>
            <a:outerShdw sx="100000" sy="100000" kx="0" ky="0" algn="bl" rotWithShape="0" blurRad="127000" dist="572" dir="5400000">
              <a:srgbClr val="101A45">
                <a:alpha val="7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528816" y="2724912"/>
            <a:ext cx="4727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27AE60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СУБЪЕКТНАЯ МОДЕЛЬ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528816" y="3017520"/>
            <a:ext cx="4727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«Что вы умеете и чем готовы поделиться с соседями?»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528816" y="3730752"/>
            <a:ext cx="4727448" cy="475488"/>
          </a:xfrm>
          <a:prstGeom prst="roundRect">
            <a:avLst>
              <a:gd name="adj" fmla="val 17308"/>
            </a:avLst>
          </a:prstGeom>
          <a:solidFill>
            <a:srgbClr val="EAF7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75120" y="3730752"/>
            <a:ext cx="4434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AE60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Список из 40 потенциальных ведущих кружков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565392" y="4489704"/>
            <a:ext cx="100584" cy="100584"/>
          </a:xfrm>
          <a:prstGeom prst="ellipse">
            <a:avLst/>
          </a:prstGeom>
          <a:solidFill>
            <a:srgbClr val="27AE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03136" y="4370832"/>
            <a:ext cx="4453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Жители в роли соавторов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565392" y="4855464"/>
            <a:ext cx="100584" cy="100584"/>
          </a:xfrm>
          <a:prstGeom prst="ellipse">
            <a:avLst/>
          </a:prstGeom>
          <a:solidFill>
            <a:srgbClr val="27AE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03136" y="4736592"/>
            <a:ext cx="4453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Ожидания направлены друг на друга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565392" y="5221224"/>
            <a:ext cx="100584" cy="100584"/>
          </a:xfrm>
          <a:prstGeom prst="ellipse">
            <a:avLst/>
          </a:prstGeom>
          <a:solidFill>
            <a:srgbClr val="27AE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03136" y="5102352"/>
            <a:ext cx="4453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Каждый активный житель приводит следующего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565392" y="5586984"/>
            <a:ext cx="100584" cy="100584"/>
          </a:xfrm>
          <a:prstGeom prst="ellipse">
            <a:avLst/>
          </a:prstGeom>
          <a:solidFill>
            <a:srgbClr val="27AE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03136" y="5468112"/>
            <a:ext cx="4453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Программа держится на людях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1002975" y="63367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14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0080" y="63367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3A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BI Service · Обзор мировых практик · 2026</a:t>
            </a:r>
            <a:endParaRPr lang="en-US" sz="950" dirty="0"/>
          </a:p>
        </p:txBody>
      </p:sp>
      <p:pic>
        <p:nvPicPr>
          <p:cNvPr id="33" name="Image 0" descr="assets/big-life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70287" y="384048"/>
            <a:ext cx="86868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6FCBF1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СТРАТЕГИЯ 05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911535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729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Ритм важнее масштаба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664208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6CEE4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Фестиваль собирает толпу и не создаёт связей. Связи создаёт повторяющееся событие с низким порогом входа.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423160"/>
            <a:ext cx="3429000" cy="1874520"/>
          </a:xfrm>
          <a:prstGeom prst="roundRect">
            <a:avLst>
              <a:gd name="adj" fmla="val 6829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633472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FCBF1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2004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914400" y="292608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13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14400" y="3602736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FB0D4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участников на первом забеге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FB0D4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в Bushy Park, Лондон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43400" y="2423160"/>
            <a:ext cx="3429000" cy="1874520"/>
          </a:xfrm>
          <a:prstGeom prst="roundRect">
            <a:avLst>
              <a:gd name="adj" fmla="val 6829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2633472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FCBF1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Сегодня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617720" y="292608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~12 млн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617720" y="3602736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FB0D4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зарегистрированных участников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FB0D4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в 23–25 странах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46720" y="2423160"/>
            <a:ext cx="3429000" cy="1874520"/>
          </a:xfrm>
          <a:prstGeom prst="roundRect">
            <a:avLst>
              <a:gd name="adj" fmla="val 6829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0" y="2633472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FCBF1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Формат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321040" y="292608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3 000+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8321040" y="3602736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FB0D4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событий каждую субботу,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FB0D4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полностью на волонтёрах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4526280"/>
            <a:ext cx="10911535" cy="1371600"/>
          </a:xfrm>
          <a:prstGeom prst="roundRect">
            <a:avLst>
              <a:gd name="adj" fmla="val 9333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470916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FCBF1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ПОЧЕМУ ЭТО РАБОТАЕТ — ФАКТОРЫ ИЗ ИССЛЕДОВАНИЙ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60120" y="5166360"/>
            <a:ext cx="118872" cy="118872"/>
          </a:xfrm>
          <a:prstGeom prst="ellipse">
            <a:avLst/>
          </a:prstGeom>
          <a:solidFill>
            <a:srgbClr val="009FE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88720" y="50292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Бесплатно и без отбора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566160" y="5166360"/>
            <a:ext cx="118872" cy="118872"/>
          </a:xfrm>
          <a:prstGeom prst="ellipse">
            <a:avLst/>
          </a:prstGeom>
          <a:solidFill>
            <a:srgbClr val="009FE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94760" y="50292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Одно время, одно место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172200" y="5166360"/>
            <a:ext cx="118872" cy="118872"/>
          </a:xfrm>
          <a:prstGeom prst="ellipse">
            <a:avLst/>
          </a:prstGeom>
          <a:solidFill>
            <a:srgbClr val="009FE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0" y="50292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Ядро волонтёров + эпизодические роли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778240" y="5166360"/>
            <a:ext cx="118872" cy="118872"/>
          </a:xfrm>
          <a:prstGeom prst="ellipse">
            <a:avLst/>
          </a:prstGeom>
          <a:solidFill>
            <a:srgbClr val="009FE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06840" y="50292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Результат лично каждому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60120" y="5504688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FCBF1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Главная метрика такого формата — не явка, а число проведённых подряд событий без пропуска.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002975" y="63367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0C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15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0080" y="63367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0C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BI Service · Обзор мировых практик · 2026</a:t>
            </a:r>
            <a:endParaRPr lang="en-US" sz="950" dirty="0"/>
          </a:p>
        </p:txBody>
      </p:sp>
      <p:pic>
        <p:nvPicPr>
          <p:cNvPr id="30" name="Image 0" descr="assets/big-life-logo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0287" y="384048"/>
            <a:ext cx="86868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009FE3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СТРАТЕГИЯ 04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911535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729"/>
              </a:lnSpc>
              <a:buNone/>
            </a:pPr>
            <a:r>
              <a:rPr lang="en-US" sz="3300" b="1" dirty="0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Соучастие: что работает, а что нет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12664" cy="4069080"/>
          </a:xfrm>
          <a:prstGeom prst="roundRect">
            <a:avLst>
              <a:gd name="adj" fmla="val 3146"/>
            </a:avLst>
          </a:prstGeom>
          <a:solidFill>
            <a:srgbClr val="FFFFFF"/>
          </a:solidFill>
          <a:ln w="9525">
            <a:solidFill>
              <a:srgbClr val="DFE5F0"/>
            </a:solidFill>
            <a:prstDash val="solid"/>
          </a:ln>
          <a:effectLst>
            <a:outerShdw sx="100000" sy="100000" kx="0" ky="0" algn="bl" rotWithShape="0" blurRad="127000" dist="572" dir="5400000">
              <a:srgbClr val="101A45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2121408"/>
            <a:ext cx="1143000" cy="310896"/>
          </a:xfrm>
          <a:prstGeom prst="roundRect">
            <a:avLst>
              <a:gd name="adj" fmla="val 26471"/>
            </a:avLst>
          </a:prstGeom>
          <a:solidFill>
            <a:srgbClr val="27AE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2121408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РАБОТАЕТ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32688" y="2523744"/>
            <a:ext cx="4727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UVA, Медельин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32688" y="2852928"/>
            <a:ext cx="4727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3A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Unidades de Vida Articulada, с 2012 года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32688" y="3182112"/>
            <a:ext cx="47274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Резервуары водоканала EPM превращены в общественные центры со спортом, культурой и рекреацией. Проектирование через «мастерские воображаемого» с жителями — от замысла до реализации.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32688" y="41148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7AE60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~20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932688" y="448056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объектов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10128" y="41148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7AE60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1,5 млн+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3310128" y="448056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пользователей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32688" y="4828032"/>
            <a:ext cx="4727448" cy="868680"/>
          </a:xfrm>
          <a:prstGeom prst="roundRect">
            <a:avLst>
              <a:gd name="adj" fmla="val 9474"/>
            </a:avLst>
          </a:prstGeom>
          <a:solidFill>
            <a:srgbClr val="EAF7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4828032"/>
            <a:ext cx="43982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27AE60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Жителей обучают обслуживать и управлять этими пространствами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36208" y="1874520"/>
            <a:ext cx="5312664" cy="4069080"/>
          </a:xfrm>
          <a:prstGeom prst="roundRect">
            <a:avLst>
              <a:gd name="adj" fmla="val 3146"/>
            </a:avLst>
          </a:prstGeom>
          <a:solidFill>
            <a:srgbClr val="FFFFFF"/>
          </a:solidFill>
          <a:ln w="9525">
            <a:solidFill>
              <a:srgbClr val="DFE5F0"/>
            </a:solidFill>
            <a:prstDash val="solid"/>
          </a:ln>
          <a:effectLst>
            <a:outerShdw sx="100000" sy="100000" kx="0" ky="0" algn="bl" rotWithShape="0" blurRad="127000" dist="572" dir="5400000">
              <a:srgbClr val="101A45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28816" y="2121408"/>
            <a:ext cx="1143000" cy="310896"/>
          </a:xfrm>
          <a:prstGeom prst="roundRect">
            <a:avLst>
              <a:gd name="adj" fmla="val 26471"/>
            </a:avLst>
          </a:prstGeom>
          <a:solidFill>
            <a:srgbClr val="C03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28816" y="2121408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СПОРНО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528816" y="2523744"/>
            <a:ext cx="4727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Superkilen, Копенгаген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528816" y="2852928"/>
            <a:ext cx="4727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3A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«Экстремальное участие», BIG + Topotek1 + Superflex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528816" y="3182112"/>
            <a:ext cx="47274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Жители предлагали объекты, связанные со странами их происхождения: 108 предметов, привезённых со всего мира, более 60 национальностей.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28816" y="41148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0392B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108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6528816" y="448056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объектов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906256" y="41148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0392B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60+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8906256" y="448056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национальностей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528816" y="4828032"/>
            <a:ext cx="4727448" cy="868680"/>
          </a:xfrm>
          <a:prstGeom prst="roundRect">
            <a:avLst>
              <a:gd name="adj" fmla="val 9474"/>
            </a:avLst>
          </a:prstGeom>
          <a:solidFill>
            <a:srgbClr val="FCED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93408" y="4828032"/>
            <a:ext cx="43982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C0392B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Критика: связь привязанности жителей с процессом участия под вопросом; за фасадом работала логика девелопмента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" y="6016752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Правило: участие = решение или ресурс. Если ничего не передаётся — это не участие, и в следующий раз жители не придут.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002975" y="63367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16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0080" y="63367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3A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BI Service · Обзор мировых практик · 2026</a:t>
            </a:r>
            <a:endParaRPr lang="en-US" sz="950" dirty="0"/>
          </a:p>
        </p:txBody>
      </p:sp>
      <p:pic>
        <p:nvPicPr>
          <p:cNvPr id="31" name="Image 0" descr="assets/big-life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70287" y="384048"/>
            <a:ext cx="86868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2588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009FE3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03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640080" y="2761488"/>
            <a:ext cx="7680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Каталог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механик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772400" y="20574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CEE4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Семь групп инструментов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452360" y="2231136"/>
            <a:ext cx="118872" cy="118872"/>
          </a:xfrm>
          <a:prstGeom prst="ellipse">
            <a:avLst/>
          </a:prstGeom>
          <a:solidFill>
            <a:srgbClr val="009FE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0" y="262432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CEE4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Прототип для каждой механики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452360" y="2798064"/>
            <a:ext cx="118872" cy="118872"/>
          </a:xfrm>
          <a:prstGeom prst="ellipse">
            <a:avLst/>
          </a:prstGeom>
          <a:solidFill>
            <a:srgbClr val="009FE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0" y="319125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CEE4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Что нужно для запуска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452360" y="3364992"/>
            <a:ext cx="118872" cy="118872"/>
          </a:xfrm>
          <a:prstGeom prst="ellipse">
            <a:avLst/>
          </a:prstGeom>
          <a:solidFill>
            <a:srgbClr val="009FE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0" y="375818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CEE4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Что мерить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452360" y="3931920"/>
            <a:ext cx="118872" cy="118872"/>
          </a:xfrm>
          <a:prstGeom prst="ellipse">
            <a:avLst/>
          </a:prstGeom>
          <a:solidFill>
            <a:srgbClr val="009FE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002975" y="63367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0C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17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63367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0C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BI Service · Обзор мировых практик · 2026</a:t>
            </a:r>
            <a:endParaRPr lang="en-US" sz="950" dirty="0"/>
          </a:p>
        </p:txBody>
      </p:sp>
      <p:pic>
        <p:nvPicPr>
          <p:cNvPr id="14" name="Image 0" descr="assets/big-life-logo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0287" y="384048"/>
            <a:ext cx="86868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009FE3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МЕХАНИКИ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911535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729"/>
              </a:lnSpc>
              <a:buNone/>
            </a:pPr>
            <a:r>
              <a:rPr lang="en-US" sz="3300" b="1" dirty="0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Каталог: семь групп, 33 инструмента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664208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Каждая механика в отчёте описана в формате: что это · что нужно · прототип · что мерить.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395728"/>
            <a:ext cx="2578608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9525">
            <a:solidFill>
              <a:srgbClr val="DFE5F0"/>
            </a:solidFill>
            <a:prstDash val="solid"/>
          </a:ln>
          <a:effectLst>
            <a:outerShdw sx="100000" sy="100000" kx="0" ky="0" algn="bl" rotWithShape="0" blurRad="127000" dist="572" dir="5400000">
              <a:srgbClr val="101A45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633472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6112" y="2633472"/>
            <a:ext cx="420624" cy="420624"/>
          </a:xfrm>
          <a:prstGeom prst="ellipse">
            <a:avLst/>
          </a:prstGeom>
          <a:solidFill>
            <a:srgbClr val="009FE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6334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17320" y="2633472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4 механик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" y="317296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Вход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96112" y="345643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Первое касание и знакомство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10712" y="2395728"/>
            <a:ext cx="2578608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9525">
            <a:solidFill>
              <a:srgbClr val="DFE5F0"/>
            </a:solidFill>
            <a:prstDash val="solid"/>
          </a:ln>
          <a:effectLst>
            <a:outerShdw sx="100000" sy="100000" kx="0" ky="0" algn="bl" rotWithShape="0" blurRad="127000" dist="572" dir="5400000">
              <a:srgbClr val="101A45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66744" y="2633472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66744" y="2633472"/>
            <a:ext cx="420624" cy="420624"/>
          </a:xfrm>
          <a:prstGeom prst="ellipse">
            <a:avLst/>
          </a:prstGeom>
          <a:solidFill>
            <a:srgbClr val="27AE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66744" y="26334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B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187952" y="2633472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5 механик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66744" y="317296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Ритм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666744" y="345643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Регулярные повторяющиеся форматы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81344" y="2395728"/>
            <a:ext cx="2578608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9525">
            <a:solidFill>
              <a:srgbClr val="DFE5F0"/>
            </a:solidFill>
            <a:prstDash val="solid"/>
          </a:ln>
          <a:effectLst>
            <a:outerShdw sx="100000" sy="100000" kx="0" ky="0" algn="bl" rotWithShape="0" blurRad="127000" dist="572" dir="5400000">
              <a:srgbClr val="101A45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37376" y="2633472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37376" y="2633472"/>
            <a:ext cx="420624" cy="420624"/>
          </a:xfrm>
          <a:prstGeom prst="ellipse">
            <a:avLst/>
          </a:prstGeom>
          <a:solidFill>
            <a:srgbClr val="E67E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37376" y="26334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C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58584" y="2633472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5 механик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37376" y="317296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Люди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437376" y="345643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Лидеры, волонтёры, лестница вовлечения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951976" y="2395728"/>
            <a:ext cx="2578608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9525">
            <a:solidFill>
              <a:srgbClr val="DFE5F0"/>
            </a:solidFill>
            <a:prstDash val="solid"/>
          </a:ln>
          <a:effectLst>
            <a:outerShdw sx="100000" sy="100000" kx="0" ky="0" algn="bl" rotWithShape="0" blurRad="127000" dist="572" dir="5400000">
              <a:srgbClr val="101A45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208008" y="2633472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208008" y="2633472"/>
            <a:ext cx="420624" cy="420624"/>
          </a:xfrm>
          <a:prstGeom prst="ellipse">
            <a:avLst/>
          </a:prstGeom>
          <a:solidFill>
            <a:srgbClr val="E74C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208008" y="26334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D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729216" y="2633472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5 механик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208008" y="317296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Ресурсы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208008" y="345643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Как давать деньги жителям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40080" y="4242816"/>
            <a:ext cx="2578608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9525">
            <a:solidFill>
              <a:srgbClr val="DFE5F0"/>
            </a:solidFill>
            <a:prstDash val="solid"/>
          </a:ln>
          <a:effectLst>
            <a:outerShdw sx="100000" sy="100000" kx="0" ky="0" algn="bl" rotWithShape="0" blurRad="127000" dist="572" dir="5400000">
              <a:srgbClr val="101A45">
                <a:alpha val="7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96112" y="4480560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96112" y="4480560"/>
            <a:ext cx="420624" cy="420624"/>
          </a:xfrm>
          <a:prstGeom prst="ellipse">
            <a:avLst/>
          </a:prstGeom>
          <a:solidFill>
            <a:srgbClr val="8E44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96112" y="44805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E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417320" y="4480560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5 механик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96112" y="502005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Пространство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896112" y="53035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Физические механики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410712" y="4242816"/>
            <a:ext cx="2578608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9525">
            <a:solidFill>
              <a:srgbClr val="DFE5F0"/>
            </a:solidFill>
            <a:prstDash val="solid"/>
          </a:ln>
          <a:effectLst>
            <a:outerShdw sx="100000" sy="100000" kx="0" ky="0" algn="bl" rotWithShape="0" blurRad="127000" dist="572" dir="5400000">
              <a:srgbClr val="101A45">
                <a:alpha val="7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666744" y="4480560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666744" y="4480560"/>
            <a:ext cx="420624" cy="420624"/>
          </a:xfrm>
          <a:prstGeom prst="ellipse">
            <a:avLst/>
          </a:prstGeom>
          <a:solidFill>
            <a:srgbClr val="2980B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66744" y="44805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F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4187952" y="4480560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5 механик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666744" y="502005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Партнёрства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3666744" y="53035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С кем именно и на каких условиях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181344" y="4242816"/>
            <a:ext cx="2578608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9525">
            <a:solidFill>
              <a:srgbClr val="DFE5F0"/>
            </a:solidFill>
            <a:prstDash val="solid"/>
          </a:ln>
          <a:effectLst>
            <a:outerShdw sx="100000" sy="100000" kx="0" ky="0" algn="bl" rotWithShape="0" blurRad="127000" dist="572" dir="5400000">
              <a:srgbClr val="101A45">
                <a:alpha val="7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437376" y="4480560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DADE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437376" y="4480560"/>
            <a:ext cx="420624" cy="420624"/>
          </a:xfrm>
          <a:prstGeom prst="ellipse">
            <a:avLst/>
          </a:prstGeom>
          <a:solidFill>
            <a:srgbClr val="5DADE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37376" y="44805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G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6958584" y="4480560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4 механик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437376" y="502005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Цифра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6437376" y="53035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Платформа, календарь, данные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8951976" y="4242816"/>
            <a:ext cx="2578608" cy="1645920"/>
          </a:xfrm>
          <a:prstGeom prst="roundRect">
            <a:avLst>
              <a:gd name="adj" fmla="val 7778"/>
            </a:avLst>
          </a:prstGeom>
          <a:solidFill>
            <a:srgbClr val="1B2A6E"/>
          </a:solidFill>
          <a:ln w="9525">
            <a:solidFill>
              <a:srgbClr val="DFE5F0"/>
            </a:solidFill>
            <a:prstDash val="solid"/>
          </a:ln>
          <a:effectLst>
            <a:outerShdw sx="100000" sy="100000" kx="0" ky="0" algn="bl" rotWithShape="0" blurRad="127000" dist="572" dir="5400000">
              <a:srgbClr val="101A45">
                <a:alpha val="7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9208008" y="45262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Полный каталог —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в отчёте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9208008" y="51663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6CEE4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С прототипами, ресурсами и метриками по каждой позиции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11002975" y="63367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18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640080" y="63367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3A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BI Service · Обзор мировых практик · 2026</a:t>
            </a:r>
            <a:endParaRPr lang="en-US" sz="950" dirty="0"/>
          </a:p>
        </p:txBody>
      </p:sp>
      <p:pic>
        <p:nvPicPr>
          <p:cNvPr id="59" name="Image 0" descr="assets/big-life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70287" y="384048"/>
            <a:ext cx="86868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009FE3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МЕХАНИКИ · ГРУППЫ A И B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911535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729"/>
              </a:lnSpc>
              <a:buNone/>
            </a:pPr>
            <a:r>
              <a:rPr lang="en-US" sz="3300" b="1" dirty="0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Вход и регулярный ритм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312664" cy="1207008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9525">
            <a:solidFill>
              <a:srgbClr val="DFE5F0"/>
            </a:solidFill>
            <a:prstDash val="solid"/>
          </a:ln>
          <a:effectLst>
            <a:outerShdw sx="100000" sy="100000" kx="0" ky="0" algn="bl" rotWithShape="0" blurRad="127000" dist="572" dir="5400000">
              <a:srgbClr val="101A45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203704"/>
            <a:ext cx="502920" cy="310896"/>
          </a:xfrm>
          <a:prstGeom prst="roundRect">
            <a:avLst>
              <a:gd name="adj" fmla="val 23529"/>
            </a:avLst>
          </a:prstGeom>
          <a:solidFill>
            <a:srgbClr val="009FE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22037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A1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508760" y="2185416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Соседский обед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2542032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Жители накрывают общий стол, каждый приносит еду. Организатор даёт только «скелет»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96112" y="288036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9FE3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The Big Lunch, UK · 10 млн участников в 2024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236208" y="1965960"/>
            <a:ext cx="5312664" cy="1207008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9525">
            <a:solidFill>
              <a:srgbClr val="DFE5F0"/>
            </a:solidFill>
            <a:prstDash val="solid"/>
          </a:ln>
          <a:effectLst>
            <a:outerShdw sx="100000" sy="100000" kx="0" ky="0" algn="bl" rotWithShape="0" blurRad="127000" dist="572" dir="5400000">
              <a:srgbClr val="101A45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92240" y="2203704"/>
            <a:ext cx="502920" cy="310896"/>
          </a:xfrm>
          <a:prstGeom prst="roundRect">
            <a:avLst>
              <a:gd name="adj" fmla="val 23529"/>
            </a:avLst>
          </a:prstGeom>
          <a:solidFill>
            <a:srgbClr val="009FE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22037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A2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104888" y="2185416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Welcome-пакет новосёла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92240" y="2542032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Карта двора, календарь на квартал, контакт соседа-проводника, приглашение в чат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288036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9FE3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Практика master-planned communities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40080" y="3337560"/>
            <a:ext cx="5312664" cy="1207008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9525">
            <a:solidFill>
              <a:srgbClr val="DFE5F0"/>
            </a:solidFill>
            <a:prstDash val="solid"/>
          </a:ln>
          <a:effectLst>
            <a:outerShdw sx="100000" sy="100000" kx="0" ky="0" algn="bl" rotWithShape="0" blurRad="127000" dist="572" dir="5400000">
              <a:srgbClr val="101A45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96112" y="3575304"/>
            <a:ext cx="502920" cy="310896"/>
          </a:xfrm>
          <a:prstGeom prst="roundRect">
            <a:avLst>
              <a:gd name="adj" fmla="val 23529"/>
            </a:avLst>
          </a:prstGeom>
          <a:solidFill>
            <a:srgbClr val="27AE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" y="35753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B1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508760" y="3557016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Еженедельный забег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96112" y="3913632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Одно время, один маршрут, бесплатно, на волонтёрах, результат каждому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96112" y="425196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AE60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parkrun · с 13 человек до ~12 млн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236208" y="3337560"/>
            <a:ext cx="5312664" cy="1207008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9525">
            <a:solidFill>
              <a:srgbClr val="DFE5F0"/>
            </a:solidFill>
            <a:prstDash val="solid"/>
          </a:ln>
          <a:effectLst>
            <a:outerShdw sx="100000" sy="100000" kx="0" ky="0" algn="bl" rotWithShape="0" blurRad="127000" dist="572" dir="5400000">
              <a:srgbClr val="101A45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92240" y="3575304"/>
            <a:ext cx="502920" cy="310896"/>
          </a:xfrm>
          <a:prstGeom prst="roundRect">
            <a:avLst>
              <a:gd name="adj" fmla="val 23529"/>
            </a:avLst>
          </a:prstGeom>
          <a:solidFill>
            <a:srgbClr val="27AE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35753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B2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104888" y="3557016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Соседское садоводство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92240" y="3913632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Коллективные грядки под ответственностью группы, с обучением и конкурсом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492240" y="425196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AE60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Community in Bloom, Сингапур · 2 000+ групп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40080" y="4709160"/>
            <a:ext cx="5312664" cy="1207008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9525">
            <a:solidFill>
              <a:srgbClr val="DFE5F0"/>
            </a:solidFill>
            <a:prstDash val="solid"/>
          </a:ln>
          <a:effectLst>
            <a:outerShdw sx="100000" sy="100000" kx="0" ky="0" algn="bl" rotWithShape="0" blurRad="127000" dist="572" dir="5400000">
              <a:srgbClr val="101A45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96112" y="4946904"/>
            <a:ext cx="502920" cy="310896"/>
          </a:xfrm>
          <a:prstGeom prst="roundRect">
            <a:avLst>
              <a:gd name="adj" fmla="val 23529"/>
            </a:avLst>
          </a:prstGeom>
          <a:solidFill>
            <a:srgbClr val="27AE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96112" y="49469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B3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508760" y="4928616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Игровые улицы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96112" y="5285232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Регулярное перекрытие внутридворового проезда на несколько часов под детскую игру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96112" y="562356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AE60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Play streets, Великобритания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236208" y="4709160"/>
            <a:ext cx="5312664" cy="1207008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9525">
            <a:solidFill>
              <a:srgbClr val="DFE5F0"/>
            </a:solidFill>
            <a:prstDash val="solid"/>
          </a:ln>
          <a:effectLst>
            <a:outerShdw sx="100000" sy="100000" kx="0" ky="0" algn="bl" rotWithShape="0" blurRad="127000" dist="572" dir="5400000">
              <a:srgbClr val="101A45">
                <a:alpha val="7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492240" y="4946904"/>
            <a:ext cx="502920" cy="310896"/>
          </a:xfrm>
          <a:prstGeom prst="roundRect">
            <a:avLst>
              <a:gd name="adj" fmla="val 23529"/>
            </a:avLst>
          </a:prstGeom>
          <a:solidFill>
            <a:srgbClr val="27AE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92240" y="49469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B4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7104888" y="4928616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Ярмарка выходного дня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492240" y="5285232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Жители и микропредприниматели торгуют; регулярность важнее ассортимента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492240" y="562356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AE60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Публичные рынки как бизнес-инкубаторы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11002975" y="63367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19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40080" y="63367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3A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BI Service · Обзор мировых практик · 2026</a:t>
            </a:r>
            <a:endParaRPr lang="en-US" sz="950" dirty="0"/>
          </a:p>
        </p:txBody>
      </p:sp>
      <p:pic>
        <p:nvPicPr>
          <p:cNvPr id="42" name="Image 0" descr="assets/big-life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70287" y="384048"/>
            <a:ext cx="86868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009FE3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МЕХАНИКИ · ГРУППА C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911535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729"/>
              </a:lnSpc>
              <a:buNone/>
            </a:pPr>
            <a:r>
              <a:rPr lang="en-US" sz="3300" b="1" dirty="0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Лестница вовлечения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664208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Ступени должны быть описаны явно, с указанием усилий: «2 часа раз в месяц». Конверсия между ступенями — главная метрика зрелости сообщества.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3666744"/>
            <a:ext cx="1673352" cy="777240"/>
          </a:xfrm>
          <a:prstGeom prst="roundRect">
            <a:avLst>
              <a:gd name="adj" fmla="val 11765"/>
            </a:avLst>
          </a:prstGeom>
          <a:solidFill>
            <a:srgbClr val="8A93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758184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>
                    <a:alpha val="60000"/>
                  </a:srgbClr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4032504"/>
            <a:ext cx="1673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Участник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4535424"/>
            <a:ext cx="1673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Пришёл на событие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87168" y="3429000"/>
            <a:ext cx="1673352" cy="1014984"/>
          </a:xfrm>
          <a:prstGeom prst="roundRect">
            <a:avLst>
              <a:gd name="adj" fmla="val 9009"/>
            </a:avLst>
          </a:prstGeom>
          <a:solidFill>
            <a:srgbClr val="5DADE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87168" y="3520440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>
                    <a:alpha val="60000"/>
                  </a:srgbClr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87168" y="4032504"/>
            <a:ext cx="1673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Помощник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87168" y="4535424"/>
            <a:ext cx="1673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Помог на событии разово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34256" y="3191256"/>
            <a:ext cx="1673352" cy="1252728"/>
          </a:xfrm>
          <a:prstGeom prst="roundRect">
            <a:avLst>
              <a:gd name="adj" fmla="val 7299"/>
            </a:avLst>
          </a:prstGeom>
          <a:solidFill>
            <a:srgbClr val="009FE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34256" y="3282696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>
                    <a:alpha val="60000"/>
                  </a:srgbClr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334256" y="4032504"/>
            <a:ext cx="1673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Волонтёр роли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34256" y="4535424"/>
            <a:ext cx="1673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Взял постоянную функцию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81344" y="2953512"/>
            <a:ext cx="1673352" cy="1490472"/>
          </a:xfrm>
          <a:prstGeom prst="roundRect">
            <a:avLst>
              <a:gd name="adj" fmla="val 6135"/>
            </a:avLst>
          </a:prstGeom>
          <a:solidFill>
            <a:srgbClr val="27AE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81344" y="3044952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>
                    <a:alpha val="60000"/>
                  </a:srgbClr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81344" y="4032504"/>
            <a:ext cx="1673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Организатор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81344" y="4535424"/>
            <a:ext cx="1673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Ведёт своё событие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028432" y="2715768"/>
            <a:ext cx="1673352" cy="1728216"/>
          </a:xfrm>
          <a:prstGeom prst="roundRect">
            <a:avLst>
              <a:gd name="adj" fmla="val 5464"/>
            </a:avLst>
          </a:prstGeom>
          <a:solidFill>
            <a:srgbClr val="E67E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28432" y="2807208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>
                    <a:alpha val="60000"/>
                  </a:srgbClr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028432" y="4032504"/>
            <a:ext cx="1673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Амбассадор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028432" y="4535424"/>
            <a:ext cx="1673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Отвечает за двор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875520" y="2478024"/>
            <a:ext cx="1673352" cy="1965960"/>
          </a:xfrm>
          <a:prstGeom prst="roundRect">
            <a:avLst>
              <a:gd name="adj" fmla="val 5464"/>
            </a:avLst>
          </a:prstGeom>
          <a:solidFill>
            <a:srgbClr val="E74C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75520" y="2569464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>
                    <a:alpha val="60000"/>
                  </a:srgbClr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875520" y="4032504"/>
            <a:ext cx="1673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Совет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875520" y="4535424"/>
            <a:ext cx="1673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Участвует в управлении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" y="5120640"/>
            <a:ext cx="3429000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FE5F0"/>
            </a:solidFill>
            <a:prstDash val="solid"/>
          </a:ln>
          <a:effectLst>
            <a:outerShdw sx="100000" sy="100000" kx="0" ky="0" algn="bl" rotWithShape="0" blurRad="127000" dist="572" dir="5400000">
              <a:srgbClr val="101A45">
                <a:alpha val="7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96112" y="52578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C3 · Школа соседских лидеров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96112" y="5532120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4–6 сессий в год: как собрать людей, договориться с УК, провести событие, не выгореть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343400" y="5120640"/>
            <a:ext cx="3429000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FE5F0"/>
            </a:solidFill>
            <a:prstDash val="solid"/>
          </a:ln>
          <a:effectLst>
            <a:outerShdw sx="100000" sy="100000" kx="0" ky="0" algn="bl" rotWithShape="0" blurRad="127000" dist="572" dir="5400000">
              <a:srgbClr val="101A45">
                <a:alpha val="7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599432" y="52578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C4 · Система признания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99432" y="5532120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Формальная (награды, событие) и неформальная (упоминание, доступ к ресурсам)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046720" y="5120640"/>
            <a:ext cx="3429000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FE5F0"/>
            </a:solidFill>
            <a:prstDash val="solid"/>
          </a:ln>
          <a:effectLst>
            <a:outerShdw sx="100000" sy="100000" kx="0" ky="0" algn="bl" rotWithShape="0" blurRad="127000" dist="572" dir="5400000">
              <a:srgbClr val="101A45">
                <a:alpha val="7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8302752" y="52578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C5 · Обратная связь как контур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8302752" y="5532120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Опрос после события + публичный ответ «что мы изменили»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1002975" y="63367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20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40080" y="63367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3A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BI Service · Обзор мировых практик · 2026</a:t>
            </a:r>
            <a:endParaRPr lang="en-US" sz="950" dirty="0"/>
          </a:p>
        </p:txBody>
      </p:sp>
      <p:pic>
        <p:nvPicPr>
          <p:cNvPr id="40" name="Image 0" descr="assets/big-life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70287" y="384048"/>
            <a:ext cx="86868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009FE3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МЕХАНИКИ · ГРУППА D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911535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729"/>
              </a:lnSpc>
              <a:buNone/>
            </a:pPr>
            <a:r>
              <a:rPr lang="en-US" sz="3300" b="1" dirty="0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Как давать деньги жителям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429000" cy="4069080"/>
          </a:xfrm>
          <a:prstGeom prst="roundRect">
            <a:avLst>
              <a:gd name="adj" fmla="val 3733"/>
            </a:avLst>
          </a:prstGeom>
          <a:solidFill>
            <a:srgbClr val="FFFFFF"/>
          </a:solidFill>
          <a:ln w="9525">
            <a:solidFill>
              <a:srgbClr val="DFE5F0"/>
            </a:solidFill>
            <a:prstDash val="solid"/>
          </a:ln>
          <a:effectLst>
            <a:outerShdw sx="100000" sy="100000" kx="0" ky="0" algn="bl" rotWithShape="0" blurRad="127000" dist="572" dir="5400000">
              <a:srgbClr val="101A45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103120"/>
            <a:ext cx="502920" cy="310896"/>
          </a:xfrm>
          <a:prstGeom prst="roundRect">
            <a:avLst>
              <a:gd name="adj" fmla="val 23529"/>
            </a:avLst>
          </a:prstGeom>
          <a:solidFill>
            <a:srgbClr val="009FE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210312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D1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96112" y="2505456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Микрогранты соседям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96112" y="312724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9FE3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до $500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96112" y="35844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A93A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на проект; до $1 000 на межквартальный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96112" y="39319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Небольшие суммы напрямую жителям на их идеи, минимум бюрократии.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96112" y="4645152"/>
            <a:ext cx="2926080" cy="749808"/>
          </a:xfrm>
          <a:prstGeom prst="roundRect">
            <a:avLst>
              <a:gd name="adj" fmla="val 10976"/>
            </a:avLst>
          </a:prstGeom>
          <a:solidFill>
            <a:srgbClr val="EAF1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42416" y="4645152"/>
            <a:ext cx="2633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Заявки рассматривает комитет из самих жителей, а не отдел компании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96112" y="546811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b="1" dirty="0">
                <a:solidFill>
                  <a:srgbClr val="009FE3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Neighbourhood Small Grants, Канада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343400" y="1874520"/>
            <a:ext cx="3429000" cy="4069080"/>
          </a:xfrm>
          <a:prstGeom prst="roundRect">
            <a:avLst>
              <a:gd name="adj" fmla="val 3733"/>
            </a:avLst>
          </a:prstGeom>
          <a:solidFill>
            <a:srgbClr val="FFFFFF"/>
          </a:solidFill>
          <a:ln w="9525">
            <a:solidFill>
              <a:srgbClr val="DFE5F0"/>
            </a:solidFill>
            <a:prstDash val="solid"/>
          </a:ln>
          <a:effectLst>
            <a:outerShdw sx="100000" sy="100000" kx="0" ky="0" algn="bl" rotWithShape="0" blurRad="127000" dist="572" dir="5400000">
              <a:srgbClr val="101A45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99432" y="2103120"/>
            <a:ext cx="502920" cy="310896"/>
          </a:xfrm>
          <a:prstGeom prst="roundRect">
            <a:avLst>
              <a:gd name="adj" fmla="val 23529"/>
            </a:avLst>
          </a:prstGeom>
          <a:solidFill>
            <a:srgbClr val="27AE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99432" y="210312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D2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99432" y="2505456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Гранты на преобразование пространства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599432" y="312724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7AE60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€100–30 000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599432" y="35844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A93A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материалы, аренда, оплата труда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99432" y="39319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Деньги плюс административная помощь на превращение участка в общественный «оазис» на сезон.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99432" y="4645152"/>
            <a:ext cx="2926080" cy="749808"/>
          </a:xfrm>
          <a:prstGeom prst="roundRect">
            <a:avLst>
              <a:gd name="adj" fmla="val 10976"/>
            </a:avLst>
          </a:prstGeom>
          <a:solidFill>
            <a:srgbClr val="EAF1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45736" y="4645152"/>
            <a:ext cx="2633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Программа даёт и грант, и административное сопровождение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99432" y="546811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b="1" dirty="0">
                <a:solidFill>
                  <a:srgbClr val="27AE60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Grätzloase, Вена · 140+ проектов, 700+ активностей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046720" y="1874520"/>
            <a:ext cx="3429000" cy="4069080"/>
          </a:xfrm>
          <a:prstGeom prst="roundRect">
            <a:avLst>
              <a:gd name="adj" fmla="val 3733"/>
            </a:avLst>
          </a:prstGeom>
          <a:solidFill>
            <a:srgbClr val="FFFFFF"/>
          </a:solidFill>
          <a:ln w="9525">
            <a:solidFill>
              <a:srgbClr val="DFE5F0"/>
            </a:solidFill>
            <a:prstDash val="solid"/>
          </a:ln>
          <a:effectLst>
            <a:outerShdw sx="100000" sy="100000" kx="0" ky="0" algn="bl" rotWithShape="0" blurRad="127000" dist="572" dir="5400000">
              <a:srgbClr val="101A45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302752" y="2103120"/>
            <a:ext cx="502920" cy="310896"/>
          </a:xfrm>
          <a:prstGeom prst="roundRect">
            <a:avLst>
              <a:gd name="adj" fmla="val 23529"/>
            </a:avLst>
          </a:prstGeom>
          <a:solidFill>
            <a:srgbClr val="8E44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02752" y="210312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D3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302752" y="2505456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Партиципаторный бюджет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8302752" y="312724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E44AD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~5 %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8302752" y="35844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A93A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капитального бюджета города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302752" y="39319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Часть бюджета благоустройства жители распределяют голосованием по собственным проектам.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302752" y="4645152"/>
            <a:ext cx="2926080" cy="749808"/>
          </a:xfrm>
          <a:prstGeom prst="roundRect">
            <a:avLst>
              <a:gd name="adj" fmla="val 10976"/>
            </a:avLst>
          </a:prstGeom>
          <a:solidFill>
            <a:srgbClr val="EAF1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49056" y="4645152"/>
            <a:ext cx="2633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Репутация схемы держится на доле реализованных в срок проектов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302752" y="546811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b="1" dirty="0">
                <a:solidFill>
                  <a:srgbClr val="8E44AD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Париж · 159 000 голосовавших в 2016 году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1002975" y="63367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21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40080" y="63367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3A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BI Service · Обзор мировых практик · 2026</a:t>
            </a:r>
            <a:endParaRPr lang="en-US" sz="950" dirty="0"/>
          </a:p>
        </p:txBody>
      </p:sp>
      <p:pic>
        <p:nvPicPr>
          <p:cNvPr id="36" name="Image 0" descr="assets/big-life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70287" y="384048"/>
            <a:ext cx="86868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009FE3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МЕХАНИКИ · ГРУППЫ E, F, 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911535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729"/>
              </a:lnSpc>
              <a:buNone/>
            </a:pPr>
            <a:r>
              <a:rPr lang="en-US" sz="3300" b="1" dirty="0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Пространство, партнёрства и цифра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429000" cy="4069080"/>
          </a:xfrm>
          <a:prstGeom prst="roundRect">
            <a:avLst>
              <a:gd name="adj" fmla="val 3733"/>
            </a:avLst>
          </a:prstGeom>
          <a:solidFill>
            <a:srgbClr val="FFFFFF"/>
          </a:solidFill>
          <a:ln w="9525">
            <a:solidFill>
              <a:srgbClr val="DFE5F0"/>
            </a:solidFill>
            <a:prstDash val="solid"/>
          </a:ln>
          <a:effectLst>
            <a:outerShdw sx="100000" sy="100000" kx="0" ky="0" algn="bl" rotWithShape="0" blurRad="127000" dist="572" dir="5400000">
              <a:srgbClr val="101A45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103120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2103120"/>
            <a:ext cx="420624" cy="420624"/>
          </a:xfrm>
          <a:prstGeom prst="ellipse">
            <a:avLst/>
          </a:prstGeom>
          <a:solidFill>
            <a:srgbClr val="8E44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2103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26464" y="210312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Пространство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96112" y="26974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Переносная мебель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96112" y="2944368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Люди сами создают конфигурации. Потери на кражи несопоставимы с эффектом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96112" y="35204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Триангуляция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96112" y="3767328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Киоск рядом со скамейками и площадкой — внешний стимул сводит незнакомых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96112" y="43434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LQC-пилот до капитала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96112" y="4590288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Разметить сценарий временными средствами, понаблюдать, потом строить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96112" y="51663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Базовая гигиена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96112" y="5413248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Туалеты, чистота, свет, присутствие персонала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343400" y="1874520"/>
            <a:ext cx="3429000" cy="4069080"/>
          </a:xfrm>
          <a:prstGeom prst="roundRect">
            <a:avLst>
              <a:gd name="adj" fmla="val 3733"/>
            </a:avLst>
          </a:prstGeom>
          <a:solidFill>
            <a:srgbClr val="FFFFFF"/>
          </a:solidFill>
          <a:ln w="9525">
            <a:solidFill>
              <a:srgbClr val="DFE5F0"/>
            </a:solidFill>
            <a:prstDash val="solid"/>
          </a:ln>
          <a:effectLst>
            <a:outerShdw sx="100000" sy="100000" kx="0" ky="0" algn="bl" rotWithShape="0" blurRad="127000" dist="572" dir="5400000">
              <a:srgbClr val="101A45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99432" y="2103120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99432" y="2103120"/>
            <a:ext cx="420624" cy="420624"/>
          </a:xfrm>
          <a:prstGeom prst="ellipse">
            <a:avLst/>
          </a:prstGeom>
          <a:solidFill>
            <a:srgbClr val="2980B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99432" y="2103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F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129784" y="210312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Партнёрства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599432" y="26974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Поликлиника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99432" y="2944368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Направления на групповые активности: природа + общение + осмысленное дело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99432" y="35204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Школы и садики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99432" y="3767328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Площадка как учебная среда; родительские сообщества как ядро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99432" y="43434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Микробизнес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99432" y="4590288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Не аренда, а инкубация: сначала бесплатно, затем льготно, затем рыночно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99432" y="51663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Коммунальные службы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99432" y="5413248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Конверсия технических объектов в общественные (UVA, Медельин)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046720" y="1874520"/>
            <a:ext cx="3429000" cy="4069080"/>
          </a:xfrm>
          <a:prstGeom prst="roundRect">
            <a:avLst>
              <a:gd name="adj" fmla="val 3733"/>
            </a:avLst>
          </a:prstGeom>
          <a:solidFill>
            <a:srgbClr val="FFFFFF"/>
          </a:solidFill>
          <a:ln w="9525">
            <a:solidFill>
              <a:srgbClr val="DFE5F0"/>
            </a:solidFill>
            <a:prstDash val="solid"/>
          </a:ln>
          <a:effectLst>
            <a:outerShdw sx="100000" sy="100000" kx="0" ky="0" algn="bl" rotWithShape="0" blurRad="127000" dist="572" dir="5400000">
              <a:srgbClr val="101A45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302752" y="2103120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DADE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302752" y="2103120"/>
            <a:ext cx="420624" cy="420624"/>
          </a:xfrm>
          <a:prstGeom prst="ellipse">
            <a:avLst/>
          </a:prstGeom>
          <a:solidFill>
            <a:srgbClr val="5DADE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02752" y="2103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G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833104" y="210312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Цифра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8302752" y="26974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Единый календарь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302752" y="2944368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Ключ — возможность жителя опубликовать своё, а не только читать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302752" y="35204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Соседские чаты по дворам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302752" y="3767328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Метрика: доля сообщений не от администратора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302752" y="43434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Геймификация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302752" y="4590288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Баллы за реальные действия. Номинации за прогресс, не только за топ-3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302752" y="51663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Наблюдения за жизнью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8302752" y="5413248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Дважды в год считать людей, активности и состав по точкам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1002975" y="63367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22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40080" y="63367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3A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BI Service · Обзор мировых практик · 2026</a:t>
            </a:r>
            <a:endParaRPr lang="en-US" sz="950" dirty="0"/>
          </a:p>
        </p:txBody>
      </p:sp>
      <p:pic>
        <p:nvPicPr>
          <p:cNvPr id="45" name="Image 0" descr="assets/big-life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70287" y="384048"/>
            <a:ext cx="86868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2588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009FE3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04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640080" y="2761488"/>
            <a:ext cx="7680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Метрики,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риски, план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772400" y="20574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CEE4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Что считать на четырёх уровнях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452360" y="2231136"/>
            <a:ext cx="118872" cy="118872"/>
          </a:xfrm>
          <a:prstGeom prst="ellipse">
            <a:avLst/>
          </a:prstGeom>
          <a:solidFill>
            <a:srgbClr val="009FE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0" y="262432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CEE4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Где мировые практики ломались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452360" y="2798064"/>
            <a:ext cx="118872" cy="118872"/>
          </a:xfrm>
          <a:prstGeom prst="ellipse">
            <a:avLst/>
          </a:prstGeom>
          <a:solidFill>
            <a:srgbClr val="009FE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0" y="319125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CEE4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Контекст Казахстана и Узбекистана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452360" y="3364992"/>
            <a:ext cx="118872" cy="118872"/>
          </a:xfrm>
          <a:prstGeom prst="ellipse">
            <a:avLst/>
          </a:prstGeom>
          <a:solidFill>
            <a:srgbClr val="009FE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0" y="375818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CEE4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Дорожная карта 0–12+ месяцев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452360" y="3931920"/>
            <a:ext cx="118872" cy="118872"/>
          </a:xfrm>
          <a:prstGeom prst="ellipse">
            <a:avLst/>
          </a:prstGeom>
          <a:solidFill>
            <a:srgbClr val="009FE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002975" y="63367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0C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23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63367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0C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BI Service · Обзор мировых практик · 2026</a:t>
            </a:r>
            <a:endParaRPr lang="en-US" sz="950" dirty="0"/>
          </a:p>
        </p:txBody>
      </p:sp>
      <p:pic>
        <p:nvPicPr>
          <p:cNvPr id="14" name="Image 0" descr="assets/big-life-logo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0287" y="384048"/>
            <a:ext cx="86868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009FE3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ОЦЕНКА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911535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729"/>
              </a:lnSpc>
              <a:buNone/>
            </a:pPr>
            <a:r>
              <a:rPr lang="en-US" sz="3300" b="1" dirty="0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Метрики: четыре уровня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664208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Уровни отражают зрелость: пока нет третьего уровня, программа остаётся сервисом, а не сообществом.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395728"/>
            <a:ext cx="2578608" cy="3063240"/>
          </a:xfrm>
          <a:prstGeom prst="roundRect">
            <a:avLst>
              <a:gd name="adj" fmla="val 4965"/>
            </a:avLst>
          </a:prstGeom>
          <a:solidFill>
            <a:srgbClr val="FFFFFF"/>
          </a:solidFill>
          <a:ln w="9525">
            <a:solidFill>
              <a:srgbClr val="DFE5F0"/>
            </a:solidFill>
            <a:prstDash val="solid"/>
          </a:ln>
          <a:effectLst>
            <a:outerShdw sx="100000" sy="100000" kx="0" ky="0" algn="bl" rotWithShape="0" blurRad="127000" dist="572" dir="5400000">
              <a:srgbClr val="101A45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633472"/>
            <a:ext cx="402336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8398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6112" y="2633472"/>
            <a:ext cx="402336" cy="402336"/>
          </a:xfrm>
          <a:prstGeom prst="ellipse">
            <a:avLst/>
          </a:prstGeom>
          <a:solidFill>
            <a:srgbClr val="2839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6334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417320" y="2633472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Пространство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32688" y="3355848"/>
            <a:ext cx="91440" cy="91440"/>
          </a:xfrm>
          <a:prstGeom prst="ellipse">
            <a:avLst/>
          </a:prstGeom>
          <a:solidFill>
            <a:srgbClr val="2839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321868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Посещаемость по точкам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32688" y="3785616"/>
            <a:ext cx="91440" cy="91440"/>
          </a:xfrm>
          <a:prstGeom prst="ellipse">
            <a:avLst/>
          </a:prstGeom>
          <a:solidFill>
            <a:srgbClr val="2839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43000" y="3648456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Dwell time и доля сидящих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32688" y="4215384"/>
            <a:ext cx="91440" cy="91440"/>
          </a:xfrm>
          <a:prstGeom prst="ellipse">
            <a:avLst/>
          </a:prstGeom>
          <a:solidFill>
            <a:srgbClr val="2839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3000" y="4078224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Состав по возрасту и полу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32688" y="4645152"/>
            <a:ext cx="91440" cy="91440"/>
          </a:xfrm>
          <a:prstGeom prst="ellipse">
            <a:avLst/>
          </a:prstGeom>
          <a:solidFill>
            <a:srgbClr val="2839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43000" y="4507992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Аудит Power of 10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32688" y="5074920"/>
            <a:ext cx="91440" cy="91440"/>
          </a:xfrm>
          <a:prstGeom prst="ellipse">
            <a:avLst/>
          </a:prstGeom>
          <a:solidFill>
            <a:srgbClr val="2839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43000" y="493776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12 критериев качества Gehl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410712" y="2395728"/>
            <a:ext cx="2578608" cy="3063240"/>
          </a:xfrm>
          <a:prstGeom prst="roundRect">
            <a:avLst>
              <a:gd name="adj" fmla="val 4965"/>
            </a:avLst>
          </a:prstGeom>
          <a:solidFill>
            <a:srgbClr val="FFFFFF"/>
          </a:solidFill>
          <a:ln w="9525">
            <a:solidFill>
              <a:srgbClr val="DFE5F0"/>
            </a:solidFill>
            <a:prstDash val="solid"/>
          </a:ln>
          <a:effectLst>
            <a:outerShdw sx="100000" sy="100000" kx="0" ky="0" algn="bl" rotWithShape="0" blurRad="127000" dist="572" dir="5400000">
              <a:srgbClr val="101A45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66744" y="2633472"/>
            <a:ext cx="402336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66744" y="2633472"/>
            <a:ext cx="402336" cy="402336"/>
          </a:xfrm>
          <a:prstGeom prst="ellipse">
            <a:avLst/>
          </a:prstGeom>
          <a:solidFill>
            <a:srgbClr val="009FE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66744" y="26334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02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187952" y="2633472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Программа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703320" y="3355848"/>
            <a:ext cx="91440" cy="91440"/>
          </a:xfrm>
          <a:prstGeom prst="ellipse">
            <a:avLst/>
          </a:prstGeom>
          <a:solidFill>
            <a:srgbClr val="009FE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913632" y="321868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Число событий в месяц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703320" y="3785616"/>
            <a:ext cx="91440" cy="91440"/>
          </a:xfrm>
          <a:prstGeom prst="ellipse">
            <a:avLst/>
          </a:prstGeom>
          <a:solidFill>
            <a:srgbClr val="009FE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913632" y="3648456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Регулярные форматы без пропусков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703320" y="4215384"/>
            <a:ext cx="91440" cy="91440"/>
          </a:xfrm>
          <a:prstGeom prst="ellipse">
            <a:avLst/>
          </a:prstGeom>
          <a:solidFill>
            <a:srgbClr val="009FE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913632" y="4078224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Доля событий от жителей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703320" y="4645152"/>
            <a:ext cx="91440" cy="91440"/>
          </a:xfrm>
          <a:prstGeom prst="ellipse">
            <a:avLst/>
          </a:prstGeom>
          <a:solidFill>
            <a:srgbClr val="009FE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913632" y="4507992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Загрузка площадки заявками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703320" y="5074920"/>
            <a:ext cx="91440" cy="91440"/>
          </a:xfrm>
          <a:prstGeom prst="ellipse">
            <a:avLst/>
          </a:prstGeom>
          <a:solidFill>
            <a:srgbClr val="009FE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913632" y="493776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Стоимость одного контакта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181344" y="2395728"/>
            <a:ext cx="2578608" cy="3063240"/>
          </a:xfrm>
          <a:prstGeom prst="roundRect">
            <a:avLst>
              <a:gd name="adj" fmla="val 4965"/>
            </a:avLst>
          </a:prstGeom>
          <a:solidFill>
            <a:srgbClr val="FFFFFF"/>
          </a:solidFill>
          <a:ln w="9525">
            <a:solidFill>
              <a:srgbClr val="DFE5F0"/>
            </a:solidFill>
            <a:prstDash val="solid"/>
          </a:ln>
          <a:effectLst>
            <a:outerShdw sx="100000" sy="100000" kx="0" ky="0" algn="bl" rotWithShape="0" blurRad="127000" dist="572" dir="5400000">
              <a:srgbClr val="101A45">
                <a:alpha val="7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437376" y="2633472"/>
            <a:ext cx="402336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37376" y="2633472"/>
            <a:ext cx="402336" cy="40233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37376" y="26334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03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958584" y="2633472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Сообщество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6473952" y="3355848"/>
            <a:ext cx="91440" cy="9144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84264" y="321868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Число активных лидеров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473952" y="3785616"/>
            <a:ext cx="91440" cy="9144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84264" y="3648456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Конверсия по лестнице вовлечения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473952" y="4215384"/>
            <a:ext cx="91440" cy="9144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684264" y="4078224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Удержание волонтёров 12 мес.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473952" y="4645152"/>
            <a:ext cx="91440" cy="9144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84264" y="4507992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Чувство принадлежности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473952" y="5074920"/>
            <a:ext cx="91440" cy="9144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684264" y="493776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Уровень одиночества, доверие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8951976" y="2395728"/>
            <a:ext cx="2578608" cy="3063240"/>
          </a:xfrm>
          <a:prstGeom prst="roundRect">
            <a:avLst>
              <a:gd name="adj" fmla="val 4965"/>
            </a:avLst>
          </a:prstGeom>
          <a:solidFill>
            <a:srgbClr val="FFFFFF"/>
          </a:solidFill>
          <a:ln w="9525">
            <a:solidFill>
              <a:srgbClr val="DFE5F0"/>
            </a:solidFill>
            <a:prstDash val="solid"/>
          </a:ln>
          <a:effectLst>
            <a:outerShdw sx="100000" sy="100000" kx="0" ky="0" algn="bl" rotWithShape="0" blurRad="127000" dist="572" dir="5400000">
              <a:srgbClr val="101A45">
                <a:alpha val="7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9208008" y="2633472"/>
            <a:ext cx="402336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208008" y="2633472"/>
            <a:ext cx="402336" cy="402336"/>
          </a:xfrm>
          <a:prstGeom prst="ellipse">
            <a:avLst/>
          </a:prstGeom>
          <a:solidFill>
            <a:srgbClr val="E67E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208008" y="26334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04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9729216" y="2633472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Бизнес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9244584" y="3355848"/>
            <a:ext cx="91440" cy="9144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454896" y="321868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NPS: участвует / не участвует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9244584" y="3785616"/>
            <a:ext cx="91440" cy="9144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454896" y="3648456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Отток и срок владения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9244584" y="4215384"/>
            <a:ext cx="91440" cy="9144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454896" y="4078224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Премия к цене перепродажи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9244584" y="4645152"/>
            <a:ext cx="91440" cy="9144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454896" y="4507992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Стоимость вандализма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9244584" y="5074920"/>
            <a:ext cx="91440" cy="9144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454896" y="493776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Скорость продаж очередей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640080" y="5623560"/>
            <a:ext cx="10911535" cy="566928"/>
          </a:xfrm>
          <a:prstGeom prst="roundRect">
            <a:avLst>
              <a:gd name="adj" fmla="val 14516"/>
            </a:avLst>
          </a:prstGeom>
          <a:solidFill>
            <a:srgbClr val="EAF1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68680" y="5623560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b="1" dirty="0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Важно при интерпретации. </a:t>
            </a:r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Чувство принадлежности связано со сроком проживания. В новом ЖК низкий показатель — норма, а не провал: сравнивать надо динамику, а не абсолют между объектами разного возраста.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11002975" y="63367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24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640080" y="63367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3A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BI Service · Обзор мировых практик · 2026</a:t>
            </a:r>
            <a:endParaRPr lang="en-US" sz="950" dirty="0"/>
          </a:p>
        </p:txBody>
      </p:sp>
      <p:pic>
        <p:nvPicPr>
          <p:cNvPr id="69" name="Image 0" descr="assets/big-life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70287" y="384048"/>
            <a:ext cx="86868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009FE3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РИСКИ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911535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729"/>
              </a:lnSpc>
              <a:buNone/>
            </a:pPr>
            <a:r>
              <a:rPr lang="en-US" sz="3300" b="1" dirty="0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Где мировые практики ломались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12664" cy="1060704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9525">
            <a:solidFill>
              <a:srgbClr val="DFE5F0"/>
            </a:solidFill>
            <a:prstDash val="solid"/>
          </a:ln>
          <a:effectLst>
            <a:outerShdw sx="100000" sy="100000" kx="0" ky="0" algn="bl" rotWithShape="0" blurRad="127000" dist="572" dir="5400000">
              <a:srgbClr val="101A45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96112" y="1883664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Приватизация и неравенство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96112" y="2130552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Богатые районы оплачивают себе роскошные парки, остальные недофинансированы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96112" y="2459736"/>
            <a:ext cx="4800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b="1" dirty="0">
                <a:solidFill>
                  <a:srgbClr val="27AE60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Противоядие: </a:t>
            </a:r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Земля и верховная власть остаются публичными; часть ресурсов — на слабые дворы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236208" y="1783080"/>
            <a:ext cx="5312664" cy="1060704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9525">
            <a:solidFill>
              <a:srgbClr val="DFE5F0"/>
            </a:solidFill>
            <a:prstDash val="solid"/>
          </a:ln>
          <a:effectLst>
            <a:outerShdw sx="100000" sy="100000" kx="0" ky="0" algn="bl" rotWithShape="0" blurRad="127000" dist="572" dir="5400000">
              <a:srgbClr val="101A45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92240" y="1883664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Зелёная джентрификация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92240" y="2130552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Новое зелёное пространство поднимает аренду и выталкивает наименее обеспеченных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92240" y="2459736"/>
            <a:ext cx="4800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b="1" dirty="0">
                <a:solidFill>
                  <a:srgbClr val="27AE60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Противоядие: </a:t>
            </a:r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Заранее закладывать доступные форматы участия без платы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40080" y="2926080"/>
            <a:ext cx="5312664" cy="1060704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9525">
            <a:solidFill>
              <a:srgbClr val="DFE5F0"/>
            </a:solidFill>
            <a:prstDash val="solid"/>
          </a:ln>
          <a:effectLst>
            <a:outerShdw sx="100000" sy="100000" kx="0" ky="0" algn="bl" rotWithShape="0" blurRad="127000" dist="572" dir="5400000">
              <a:srgbClr val="101A45">
                <a:alpha val="7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96112" y="3026664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Выгорание активистов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96112" y="3273552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Программа на чистом энтузиазме схлопывается на второй-третий год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96112" y="3602736"/>
            <a:ext cx="4800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b="1" dirty="0">
                <a:solidFill>
                  <a:srgbClr val="27AE60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Противоядие: </a:t>
            </a:r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Оплачиваемый координатор, школа лидеров, ротация ролей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236208" y="2926080"/>
            <a:ext cx="5312664" cy="1060704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9525">
            <a:solidFill>
              <a:srgbClr val="DFE5F0"/>
            </a:solidFill>
            <a:prstDash val="solid"/>
          </a:ln>
          <a:effectLst>
            <a:outerShdw sx="100000" sy="100000" kx="0" ky="0" algn="bl" rotWithShape="0" blurRad="127000" dist="572" dir="5400000">
              <a:srgbClr val="101A45">
                <a:alpha val="7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92240" y="3026664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Партиципация как декорация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92240" y="3273552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Сбор пожеланий, не влияющий на решения, обесценивает идею участия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92240" y="3602736"/>
            <a:ext cx="4800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b="1" dirty="0">
                <a:solidFill>
                  <a:srgbClr val="27AE60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Противоядие: </a:t>
            </a:r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Правило: участие = решение или ресурс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40080" y="4069080"/>
            <a:ext cx="5312664" cy="1060704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9525">
            <a:solidFill>
              <a:srgbClr val="DFE5F0"/>
            </a:solidFill>
            <a:prstDash val="solid"/>
          </a:ln>
          <a:effectLst>
            <a:outerShdw sx="100000" sy="100000" kx="0" ky="0" algn="bl" rotWithShape="0" blurRad="127000" dist="572" dir="5400000">
              <a:srgbClr val="101A45">
                <a:alpha val="7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96112" y="4169664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Коммерция вытесняет сообщество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96112" y="4416552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Оператор перестаёт учитывать некоммерческое использование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96112" y="4745736"/>
            <a:ext cx="4800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b="1" dirty="0">
                <a:solidFill>
                  <a:srgbClr val="27AE60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Противоядие: </a:t>
            </a:r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Квота бесплатных часов и площадей в договоре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236208" y="4069080"/>
            <a:ext cx="5312664" cy="1060704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9525">
            <a:solidFill>
              <a:srgbClr val="DFE5F0"/>
            </a:solidFill>
            <a:prstDash val="solid"/>
          </a:ln>
          <a:effectLst>
            <a:outerShdw sx="100000" sy="100000" kx="0" ky="0" algn="bl" rotWithShape="0" blurRad="127000" dist="572" dir="5400000">
              <a:srgbClr val="101A45">
                <a:alpha val="7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92240" y="4169664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Зависимость от девелопера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492240" y="4416552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Программа умирает при выходе компании из проекта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92240" y="4745736"/>
            <a:ext cx="4800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b="1" dirty="0">
                <a:solidFill>
                  <a:srgbClr val="27AE60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Противоядие: </a:t>
            </a:r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Структура, переживающая передачу: реестр, юрлицо, свои доходы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40080" y="5212080"/>
            <a:ext cx="5312664" cy="1060704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9525">
            <a:solidFill>
              <a:srgbClr val="DFE5F0"/>
            </a:solidFill>
            <a:prstDash val="solid"/>
          </a:ln>
          <a:effectLst>
            <a:outerShdw sx="100000" sy="100000" kx="0" ky="0" algn="bl" rotWithShape="0" blurRad="127000" dist="572" dir="5400000">
              <a:srgbClr val="101A45">
                <a:alpha val="7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96112" y="5312664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Соревнование усиливает разрыв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96112" y="5559552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Рейтинги награждают уже сильных и демотивируют слабых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96112" y="5888736"/>
            <a:ext cx="4800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b="1" dirty="0">
                <a:solidFill>
                  <a:srgbClr val="27AE60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Противоядие: </a:t>
            </a:r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Номинации за прогресс; метрика охвата вместо метрики топа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236208" y="5212080"/>
            <a:ext cx="5312664" cy="1060704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9525">
            <a:solidFill>
              <a:srgbClr val="DFE5F0"/>
            </a:solidFill>
            <a:prstDash val="solid"/>
          </a:ln>
          <a:effectLst>
            <a:outerShdw sx="100000" sy="100000" kx="0" ky="0" algn="bl" rotWithShape="0" blurRad="127000" dist="572" dir="5400000">
              <a:srgbClr val="101A45">
                <a:alpha val="7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492240" y="5312664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Событийность без ритма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492240" y="5559552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Один большой фестиваль в год даёт фото и ноль связей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492240" y="5888736"/>
            <a:ext cx="4800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b="1" dirty="0">
                <a:solidFill>
                  <a:srgbClr val="27AE60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Противоядие: </a:t>
            </a:r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Смещать бюджет из «одного большого» в «52 маленьких»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1002975" y="63367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25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40080" y="63367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3A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BI Service · Обзор мировых практик · 2026</a:t>
            </a:r>
            <a:endParaRPr lang="en-US" sz="950" dirty="0"/>
          </a:p>
        </p:txBody>
      </p:sp>
      <p:pic>
        <p:nvPicPr>
          <p:cNvPr id="38" name="Image 0" descr="assets/big-life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70287" y="384048"/>
            <a:ext cx="86868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009FE3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ПРИМЕНИМОСТЬ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911535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729"/>
              </a:lnSpc>
              <a:buNone/>
            </a:pPr>
            <a:r>
              <a:rPr lang="en-US" sz="3300" b="1" dirty="0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Контекст Казахстана и Узбекистана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12664" cy="3611880"/>
          </a:xfrm>
          <a:prstGeom prst="roundRect">
            <a:avLst>
              <a:gd name="adj" fmla="val 3544"/>
            </a:avLst>
          </a:prstGeom>
          <a:solidFill>
            <a:srgbClr val="FFFFFF"/>
          </a:solidFill>
          <a:ln w="9525">
            <a:solidFill>
              <a:srgbClr val="DFE5F0"/>
            </a:solidFill>
            <a:prstDash val="solid"/>
          </a:ln>
          <a:effectLst>
            <a:outerShdw sx="100000" sy="100000" kx="0" ky="0" algn="bl" rotWithShape="0" blurRad="127000" dist="572" dir="5400000">
              <a:srgbClr val="101A45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2103120"/>
            <a:ext cx="1097280" cy="310896"/>
          </a:xfrm>
          <a:prstGeom prst="roundRect">
            <a:avLst>
              <a:gd name="adj" fmla="val 26471"/>
            </a:avLst>
          </a:prstGeom>
          <a:solidFill>
            <a:srgbClr val="27AE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210312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ЗА НАС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32688" y="2606040"/>
            <a:ext cx="4727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Двор уже культурный институт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32688" y="2871216"/>
            <a:ext cx="47274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Исторически — пространство повседневного взаимодействия, социализации детей, неформального контроля. Не нужно создавать концепт с нуля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32688" y="3566160"/>
            <a:ext cx="4727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Диагноз простой и точный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32688" y="3831336"/>
            <a:ext cx="47274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Люди не общаются не потому, что не хотят, а потому, что негде. Это ровно та задача, которую решает социальная инфраструктура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32688" y="4526280"/>
            <a:ext cx="4727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Рынок движется в эту сторону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32688" y="4791456"/>
            <a:ext cx="47274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Соседский центр становится стандартом проектирования у части девелоперов — есть окно для лидерства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36208" y="1874520"/>
            <a:ext cx="5312664" cy="3611880"/>
          </a:xfrm>
          <a:prstGeom prst="roundRect">
            <a:avLst>
              <a:gd name="adj" fmla="val 3544"/>
            </a:avLst>
          </a:prstGeom>
          <a:solidFill>
            <a:srgbClr val="FFFFFF"/>
          </a:solidFill>
          <a:ln w="9525">
            <a:solidFill>
              <a:srgbClr val="DFE5F0"/>
            </a:solidFill>
            <a:prstDash val="solid"/>
          </a:ln>
          <a:effectLst>
            <a:outerShdw sx="100000" sy="100000" kx="0" ky="0" algn="bl" rotWithShape="0" blurRad="127000" dist="572" dir="5400000">
              <a:srgbClr val="101A45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528816" y="2103120"/>
            <a:ext cx="1097280" cy="310896"/>
          </a:xfrm>
          <a:prstGeom prst="roundRect">
            <a:avLst>
              <a:gd name="adj" fmla="val 26471"/>
            </a:avLst>
          </a:prstGeom>
          <a:solidFill>
            <a:srgbClr val="C03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28816" y="210312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ПРОТИВ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528816" y="2606040"/>
            <a:ext cx="4727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Деньги ломают соседство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528816" y="2871216"/>
            <a:ext cx="47274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Как только возникает сбор средств, появляются конфликты интересов. Даже капремонт зависит от способности жителей договориться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528816" y="3566160"/>
            <a:ext cx="4727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Низкая укоренённость в новых ЖК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28816" y="3831336"/>
            <a:ext cx="47274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Срок проживания статистически связан с чувством принадлежности. Низкие показатели в новостройке — норма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528816" y="4526280"/>
            <a:ext cx="4727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Слабая традиция самоорганизации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528816" y="4791456"/>
            <a:ext cx="47274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Настороженность к формальным структурам собственников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40080" y="5596128"/>
            <a:ext cx="10911535" cy="621792"/>
          </a:xfrm>
          <a:prstGeom prst="roundRect">
            <a:avLst>
              <a:gd name="adj" fmla="val 20588"/>
            </a:avLst>
          </a:prstGeom>
          <a:solidFill>
            <a:srgbClr val="1B2A6E"/>
          </a:solidFill>
          <a:ln w="9525">
            <a:solidFill>
              <a:srgbClr val="DFE5F0"/>
            </a:solidFill>
            <a:prstDash val="solid"/>
          </a:ln>
          <a:effectLst>
            <a:outerShdw sx="100000" sy="100000" kx="0" ky="0" algn="bl" rotWithShape="0" blurRad="127000" dist="572" dir="5400000">
              <a:srgbClr val="101A45">
                <a:alpha val="7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60120" y="5596128"/>
            <a:ext cx="1027145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6FCBF1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Практический вывод.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Не начинайте сообщество с денежных вопросов. Начинайте с бесплатных совместных действий, а к общим бюджетам переходите, когда есть доверие и лидеры.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002975" y="63367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26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" y="63367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3A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BI Service · Обзор мировых практик · 2026</a:t>
            </a:r>
            <a:endParaRPr lang="en-US" sz="950" dirty="0"/>
          </a:p>
        </p:txBody>
      </p:sp>
      <p:pic>
        <p:nvPicPr>
          <p:cNvPr id="26" name="Image 0" descr="assets/big-life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70287" y="384048"/>
            <a:ext cx="86868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009FE3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ПЛАН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911535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729"/>
              </a:lnSpc>
              <a:buNone/>
            </a:pPr>
            <a:r>
              <a:rPr lang="en-US" sz="3300" b="1" dirty="0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Приоритетная последовательность для BI Service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578608" cy="3977640"/>
          </a:xfrm>
          <a:prstGeom prst="roundRect">
            <a:avLst>
              <a:gd name="adj" fmla="val 4965"/>
            </a:avLst>
          </a:prstGeom>
          <a:solidFill>
            <a:srgbClr val="FFFFFF"/>
          </a:solidFill>
          <a:ln w="9525">
            <a:solidFill>
              <a:srgbClr val="DFE5F0"/>
            </a:solidFill>
            <a:prstDash val="solid"/>
          </a:ln>
          <a:effectLst>
            <a:outerShdw sx="100000" sy="100000" kx="0" ky="0" algn="bl" rotWithShape="0" blurRad="127000" dist="572" dir="5400000">
              <a:srgbClr val="101A45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194560"/>
            <a:ext cx="1234440" cy="329184"/>
          </a:xfrm>
          <a:prstGeom prst="roundRect">
            <a:avLst>
              <a:gd name="adj" fmla="val 25000"/>
            </a:avLst>
          </a:prstGeom>
          <a:solidFill>
            <a:srgbClr val="009FE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219456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0–3 мес.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914400" y="2852928"/>
            <a:ext cx="100584" cy="100584"/>
          </a:xfrm>
          <a:prstGeom prst="ellipse">
            <a:avLst/>
          </a:prstGeom>
          <a:solidFill>
            <a:srgbClr val="009FE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52144" y="2724912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4213D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Реестр активов и лидеров по ABCD: не «чего не хватает», а «что вы умеете»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914400" y="3721608"/>
            <a:ext cx="100584" cy="100584"/>
          </a:xfrm>
          <a:prstGeom prst="ellipse">
            <a:avLst/>
          </a:prstGeom>
          <a:solidFill>
            <a:srgbClr val="009FE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52144" y="3593592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4213D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Запуск 1–2 регулярных бесплатных форматов на пилотных дворах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14400" y="4590288"/>
            <a:ext cx="100584" cy="100584"/>
          </a:xfrm>
          <a:prstGeom prst="ellipse">
            <a:avLst/>
          </a:prstGeom>
          <a:solidFill>
            <a:srgbClr val="009FE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52144" y="4462272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4213D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Календарь с возможностью жителю подать своё событие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96112" y="5376672"/>
            <a:ext cx="2103120" cy="438912"/>
          </a:xfrm>
          <a:prstGeom prst="roundRect">
            <a:avLst>
              <a:gd name="adj" fmla="val 16667"/>
            </a:avLst>
          </a:prstGeom>
          <a:solidFill>
            <a:srgbClr val="EAF1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5376672"/>
            <a:ext cx="18836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i="1" dirty="0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Даёт людей и ритм — базу для всего остального. Дёшево.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410712" y="1965960"/>
            <a:ext cx="2578608" cy="3977640"/>
          </a:xfrm>
          <a:prstGeom prst="roundRect">
            <a:avLst>
              <a:gd name="adj" fmla="val 4965"/>
            </a:avLst>
          </a:prstGeom>
          <a:solidFill>
            <a:srgbClr val="FFFFFF"/>
          </a:solidFill>
          <a:ln w="9525">
            <a:solidFill>
              <a:srgbClr val="DFE5F0"/>
            </a:solidFill>
            <a:prstDash val="solid"/>
          </a:ln>
          <a:effectLst>
            <a:outerShdw sx="100000" sy="100000" kx="0" ky="0" algn="bl" rotWithShape="0" blurRad="127000" dist="572" dir="5400000">
              <a:srgbClr val="101A45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66744" y="2194560"/>
            <a:ext cx="1234440" cy="329184"/>
          </a:xfrm>
          <a:prstGeom prst="roundRect">
            <a:avLst>
              <a:gd name="adj" fmla="val 25000"/>
            </a:avLst>
          </a:prstGeom>
          <a:solidFill>
            <a:srgbClr val="27AE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66744" y="219456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3–6 мес.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85032" y="2852928"/>
            <a:ext cx="100584" cy="100584"/>
          </a:xfrm>
          <a:prstGeom prst="ellipse">
            <a:avLst/>
          </a:prstGeom>
          <a:solidFill>
            <a:srgbClr val="27AE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22776" y="2724912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4213D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Амбассадорская программа с описанной лестницей ролей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85032" y="3721608"/>
            <a:ext cx="100584" cy="100584"/>
          </a:xfrm>
          <a:prstGeom prst="ellipse">
            <a:avLst/>
          </a:prstGeom>
          <a:solidFill>
            <a:srgbClr val="27AE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22776" y="3593592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4213D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Школа соседских лидеров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85032" y="4590288"/>
            <a:ext cx="100584" cy="100584"/>
          </a:xfrm>
          <a:prstGeom prst="ellipse">
            <a:avLst/>
          </a:prstGeom>
          <a:solidFill>
            <a:srgbClr val="27AE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22776" y="4462272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4213D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LQC-пилоты вместо капитальных решений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66744" y="5376672"/>
            <a:ext cx="2103120" cy="438912"/>
          </a:xfrm>
          <a:prstGeom prst="roundRect">
            <a:avLst>
              <a:gd name="adj" fmla="val 16667"/>
            </a:avLst>
          </a:prstGeom>
          <a:solidFill>
            <a:srgbClr val="EAF1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76472" y="5376672"/>
            <a:ext cx="18836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i="1" dirty="0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Снимает главный риск — выгорание и зависимость от компании.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181344" y="1965960"/>
            <a:ext cx="2578608" cy="3977640"/>
          </a:xfrm>
          <a:prstGeom prst="roundRect">
            <a:avLst>
              <a:gd name="adj" fmla="val 4965"/>
            </a:avLst>
          </a:prstGeom>
          <a:solidFill>
            <a:srgbClr val="FFFFFF"/>
          </a:solidFill>
          <a:ln w="9525">
            <a:solidFill>
              <a:srgbClr val="DFE5F0"/>
            </a:solidFill>
            <a:prstDash val="solid"/>
          </a:ln>
          <a:effectLst>
            <a:outerShdw sx="100000" sy="100000" kx="0" ky="0" algn="bl" rotWithShape="0" blurRad="127000" dist="572" dir="5400000">
              <a:srgbClr val="101A45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437376" y="2194560"/>
            <a:ext cx="1234440" cy="329184"/>
          </a:xfrm>
          <a:prstGeom prst="roundRect">
            <a:avLst>
              <a:gd name="adj" fmla="val 25000"/>
            </a:avLst>
          </a:prstGeom>
          <a:solidFill>
            <a:srgbClr val="E67E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37376" y="219456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6–12 мес.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455664" y="2852928"/>
            <a:ext cx="100584" cy="100584"/>
          </a:xfrm>
          <a:prstGeom prst="ellipse">
            <a:avLst/>
          </a:prstGeom>
          <a:solidFill>
            <a:srgbClr val="E67E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93408" y="2724912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4213D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Микрогранты соседям с комитетом из жителей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455664" y="3721608"/>
            <a:ext cx="100584" cy="100584"/>
          </a:xfrm>
          <a:prstGeom prst="ellipse">
            <a:avLst/>
          </a:prstGeom>
          <a:solidFill>
            <a:srgbClr val="E67E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93408" y="3593592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4213D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Партнёрства: школы, поликлиники, микробизнес на ярмарках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455664" y="4590288"/>
            <a:ext cx="100584" cy="100584"/>
          </a:xfrm>
          <a:prstGeom prst="ellipse">
            <a:avLst/>
          </a:prstGeom>
          <a:solidFill>
            <a:srgbClr val="E67E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93408" y="4462272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4213D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Первое измерение принадлежности и одиночества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437376" y="5376672"/>
            <a:ext cx="2103120" cy="438912"/>
          </a:xfrm>
          <a:prstGeom prst="roundRect">
            <a:avLst>
              <a:gd name="adj" fmla="val 16667"/>
            </a:avLst>
          </a:prstGeom>
          <a:solidFill>
            <a:srgbClr val="EAF1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47104" y="5376672"/>
            <a:ext cx="18836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i="1" dirty="0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Переводит жителей из участников в субъекты.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8951976" y="1965960"/>
            <a:ext cx="2578608" cy="3977640"/>
          </a:xfrm>
          <a:prstGeom prst="roundRect">
            <a:avLst>
              <a:gd name="adj" fmla="val 4965"/>
            </a:avLst>
          </a:prstGeom>
          <a:solidFill>
            <a:srgbClr val="FFFFFF"/>
          </a:solidFill>
          <a:ln w="9525">
            <a:solidFill>
              <a:srgbClr val="DFE5F0"/>
            </a:solidFill>
            <a:prstDash val="solid"/>
          </a:ln>
          <a:effectLst>
            <a:outerShdw sx="100000" sy="100000" kx="0" ky="0" algn="bl" rotWithShape="0" blurRad="127000" dist="572" dir="5400000">
              <a:srgbClr val="101A45">
                <a:alpha val="7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9208008" y="2194560"/>
            <a:ext cx="1234440" cy="329184"/>
          </a:xfrm>
          <a:prstGeom prst="roundRect">
            <a:avLst>
              <a:gd name="adj" fmla="val 25000"/>
            </a:avLst>
          </a:prstGeom>
          <a:solidFill>
            <a:srgbClr val="8E44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208008" y="219456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12+ мес.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9226296" y="2852928"/>
            <a:ext cx="100584" cy="100584"/>
          </a:xfrm>
          <a:prstGeom prst="ellipse">
            <a:avLst/>
          </a:prstGeom>
          <a:solidFill>
            <a:srgbClr val="8E44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464040" y="2724912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4213D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Партиципаторное распределение части бюджета благоустройства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9226296" y="3721608"/>
            <a:ext cx="100584" cy="100584"/>
          </a:xfrm>
          <a:prstGeom prst="ellipse">
            <a:avLst/>
          </a:prstGeom>
          <a:solidFill>
            <a:srgbClr val="8E44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464040" y="3593592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4213D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План передачи функций ассоциациям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9226296" y="4590288"/>
            <a:ext cx="100584" cy="100584"/>
          </a:xfrm>
          <a:prstGeom prst="ellipse">
            <a:avLst/>
          </a:prstGeom>
          <a:solidFill>
            <a:srgbClr val="8E44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464040" y="4462272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4213D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Диверсификация финансирования программы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9208008" y="5376672"/>
            <a:ext cx="2103120" cy="438912"/>
          </a:xfrm>
          <a:prstGeom prst="roundRect">
            <a:avLst>
              <a:gd name="adj" fmla="val 16667"/>
            </a:avLst>
          </a:prstGeom>
          <a:solidFill>
            <a:srgbClr val="EAF1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317736" y="5376672"/>
            <a:ext cx="18836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i="1" dirty="0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Готовит программу к жизни без бюджета девелопера.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1002975" y="63367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27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40080" y="63367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3A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BI Service · Обзор мировых практик · 2026</a:t>
            </a:r>
            <a:endParaRPr lang="en-US" sz="950" dirty="0"/>
          </a:p>
        </p:txBody>
      </p:sp>
      <p:pic>
        <p:nvPicPr>
          <p:cNvPr id="50" name="Image 0" descr="assets/big-life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70287" y="384048"/>
            <a:ext cx="86868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ig-life-logo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02920"/>
            <a:ext cx="137160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417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FCBF1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ЕСЛИ СОКРАЩАТЬ ВСЁ ДО ТРЁХ ПУНКТОВ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19659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9FE3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01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554480" y="196596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Деньги ломают соседство на старте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1554480" y="2386584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FB0D4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Начинать с бесплатных совместных действий. Микрогранты и партиципаторный бюджет — инструменты второго года, а не первого.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317296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9FE3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02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1554480" y="3172968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Friends-группы не бесплатны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554480" y="359359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FB0D4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Волонтёрское сообщество требует вложений в обучение и координацию. Оплачиваемый координатор — несущая конструкция, а не накладные расходы.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" y="4379976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9FE3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03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1554480" y="437997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Ритм важнее масштаба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554480" y="48006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FB0D4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Главная метрика — не число событий, а число регулярных форматов без пропусков. Бюджет — из «одного большого» в «52 маленьких».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40080" y="5532120"/>
            <a:ext cx="10911535" cy="658368"/>
          </a:xfrm>
          <a:prstGeom prst="roundRect">
            <a:avLst>
              <a:gd name="adj" fmla="val 15278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60120" y="5532120"/>
            <a:ext cx="102714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6CEE4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Полный отчёт: docs/research/park-community-management.md — 7 моделей, 8 стратегий, каталог механик, метрики и источники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BI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Управление парками и развитие локальных сообществ</dc:title>
  <dc:subject>PptxGenJS Presentation</dc:subject>
  <dc:creator>BI Service</dc:creator>
  <cp:lastModifiedBy>BI Service</cp:lastModifiedBy>
  <cp:revision>1</cp:revision>
  <dcterms:created xsi:type="dcterms:W3CDTF">2026-08-06T11:14:01Z</dcterms:created>
  <dcterms:modified xsi:type="dcterms:W3CDTF">2026-08-06T11:14:01Z</dcterms:modified>
</cp:coreProperties>
</file>