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Участники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33C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4CD3A5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E8BE8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B07FE8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C8AC0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Добрососедство</c:v>
                </c:pt>
                <c:pt idx="1">
                  <c:v>Семья</c:v>
                </c:pt>
                <c:pt idx="2">
                  <c:v>Longevity</c:v>
                </c:pt>
                <c:pt idx="3">
                  <c:v>Физическая активность</c:v>
                </c:pt>
                <c:pt idx="4">
                  <c:v>Самореализация</c:v>
                </c:pt>
                <c:pt idx="5">
                  <c:v>Эко и благоустройство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3548</c:v>
                </c:pt>
                <c:pt idx="1">
                  <c:v>3251</c:v>
                </c:pt>
                <c:pt idx="2">
                  <c:v>1769</c:v>
                </c:pt>
                <c:pt idx="3">
                  <c:v>1481</c:v>
                </c:pt>
                <c:pt idx="4">
                  <c:v>1143</c:v>
                </c:pt>
                <c:pt idx="5">
                  <c:v>441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Топ-2 формата (добрососедство и семья) дают 58% всего охвата — почти 6 800 участий. Семья при этом самый эффективный формат по плотности: ~20 человек на мероприятие против среднего по остальным направлениям. Эко и благоустройство — 4%, требует отдельной механики вовлечения.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реально «притягивает» жителей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охвата по форматам активностей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417320"/>
          <a:ext cx="44348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23060" y="30495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11 633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23060" y="35250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участника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74920" y="1527048"/>
            <a:ext cx="155448" cy="15544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8" name="Text 5"/>
          <p:cNvSpPr/>
          <p:nvPr/>
        </p:nvSpPr>
        <p:spPr>
          <a:xfrm>
            <a:off x="5367528" y="1426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Добрососедство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72600" y="14264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3 548</a:t>
            </a:r>
            <a:pPr algn="r"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30%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67528" y="1700784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Соседские встречи, праздники двора, чаепития, пицца-пати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74920" y="2208276"/>
            <a:ext cx="155448" cy="15544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2" name="Text 9"/>
          <p:cNvSpPr/>
          <p:nvPr/>
        </p:nvSpPr>
        <p:spPr>
          <a:xfrm>
            <a:off x="5367528" y="21076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72600" y="21076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3 251</a:t>
            </a:r>
            <a:pPr algn="r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28%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67528" y="2382012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мероприятия, ~20 человек на событие — самый плотный формат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2889504"/>
            <a:ext cx="155448" cy="155448"/>
          </a:xfrm>
          <a:prstGeom prst="ellipse">
            <a:avLst/>
          </a:prstGeom>
          <a:solidFill>
            <a:srgbClr val="4CD3A5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2788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372600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1 769</a:t>
            </a:r>
            <a:pPr algn="r" indent="0" marL="0">
              <a:buNone/>
            </a:pPr>
            <a:r>
              <a:rPr lang="en-US" sz="1500" b="1" dirty="0">
                <a:solidFill>
                  <a:srgbClr val="4C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67528" y="306324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Активности для здоровья и долголетия, в основном для старшего возраста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74920" y="3570732"/>
            <a:ext cx="155448" cy="155448"/>
          </a:xfrm>
          <a:prstGeom prst="ellipse">
            <a:avLst/>
          </a:prstGeom>
          <a:solidFill>
            <a:srgbClr val="6E8BE8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34701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активность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72600" y="34701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1 481</a:t>
            </a:r>
            <a:pPr algn="r" indent="0" marL="0">
              <a:buNone/>
            </a:pPr>
            <a:r>
              <a:rPr lang="en-US" sz="1500" b="1" dirty="0">
                <a:solidFill>
                  <a:srgbClr val="6E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67528" y="3744468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Спортивные игры, зарядки, дворовые турниры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74920" y="4251960"/>
            <a:ext cx="155448" cy="155448"/>
          </a:xfrm>
          <a:prstGeom prst="ellipse">
            <a:avLst/>
          </a:prstGeom>
          <a:solidFill>
            <a:srgbClr val="B07FE8"/>
          </a:solidFill>
          <a:ln/>
        </p:spPr>
      </p:sp>
      <p:sp>
        <p:nvSpPr>
          <p:cNvPr id="24" name="Text 21"/>
          <p:cNvSpPr/>
          <p:nvPr/>
        </p:nvSpPr>
        <p:spPr>
          <a:xfrm>
            <a:off x="5367528" y="41513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Самореализация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372600" y="41513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1 143</a:t>
            </a:r>
            <a:pPr algn="r" indent="0" marL="0">
              <a:buNone/>
            </a:pPr>
            <a:r>
              <a:rPr lang="en-US" sz="1500" b="1" dirty="0">
                <a:solidFill>
                  <a:srgbClr val="B0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10%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367528" y="4425696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Мастер-классы и творчество: «Очумелые ручки», сборка пазлов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074920" y="4933188"/>
            <a:ext cx="155448" cy="155448"/>
          </a:xfrm>
          <a:prstGeom prst="ellipse">
            <a:avLst/>
          </a:prstGeom>
          <a:solidFill>
            <a:srgbClr val="7C8AC0"/>
          </a:solidFill>
          <a:ln/>
        </p:spPr>
      </p:sp>
      <p:sp>
        <p:nvSpPr>
          <p:cNvPr id="28" name="Text 25"/>
          <p:cNvSpPr/>
          <p:nvPr/>
        </p:nvSpPr>
        <p:spPr>
          <a:xfrm>
            <a:off x="5367528" y="48326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 и благоустройство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372600" y="48326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</a:t>
            </a:r>
            <a:pPr algn="r" indent="0" marL="0">
              <a:buNone/>
            </a:pPr>
            <a:r>
              <a:rPr lang="en-US" sz="1500" b="1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367528" y="5106924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Субботники, озеленение — нишевый формат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5779008"/>
            <a:ext cx="11201400" cy="713232"/>
          </a:xfrm>
          <a:prstGeom prst="roundRect">
            <a:avLst>
              <a:gd name="adj" fmla="val 12821"/>
            </a:avLst>
          </a:prstGeom>
          <a:solidFill>
            <a:srgbClr val="1A2A5C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5779008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Массовость даёт добрососедство, плотность — семья:</a:t>
            </a:r>
            <a:pPr indent="0" marL="0">
              <a:buNone/>
            </a:pPr>
            <a:r>
              <a:rPr lang="en-US" sz="1300" dirty="0">
                <a:solidFill>
                  <a:srgbClr val="D6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3 251 участник всего за 163 мероприятия — около 20 человек на каждое событие, тогда как эко-повестка остаётся нишевой (4%).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2026-08-24T08:37:13Z</dcterms:created>
  <dcterms:modified xsi:type="dcterms:W3CDTF">2026-08-24T08:37:13Z</dcterms:modified>
</cp:coreProperties>
</file>